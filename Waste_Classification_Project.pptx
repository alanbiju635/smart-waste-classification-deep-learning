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7" r:id="rId11"/>
    <p:sldId id="265" r:id="rId12"/>
    <p:sldId id="266"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2581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end-to-end deep learning system that classifies waste images into recyclable categories to support smarter recycling.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motivation: sorting errors reduce recycling efficiency; deep learning offers a scalable, consistent alternative.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categories mirror the standard TrashNet taxonomy used for training.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TrashNet dataset as the source of labeled training images.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technology stack, emphasizing TensorFlow/Keras as the deep learning backbone.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model: MobileNetV2 backbone frozen, custom classification head trained on top for 6-way classification.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seven-step pipeline from data collection to final prediction display.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real example of input and output as demonstrated in the deployed Streamlit app.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GitHub repository layout for reproducibility.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practical machine learning skills this project demonstrates.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resume-ready summary and a pointer to the GitHub repository.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9692640" y="-1371600"/>
            <a:ext cx="4572000" cy="4572000"/>
          </a:xfrm>
          <a:prstGeom prst="ellipse">
            <a:avLst/>
          </a:prstGeom>
          <a:solidFill>
            <a:srgbClr val="52796F">
              <a:alpha val="30000"/>
            </a:srgbClr>
          </a:solidFill>
          <a:ln/>
        </p:spPr>
      </p:sp>
      <p:sp>
        <p:nvSpPr>
          <p:cNvPr id="3" name="Shape 1"/>
          <p:cNvSpPr/>
          <p:nvPr/>
        </p:nvSpPr>
        <p:spPr>
          <a:xfrm>
            <a:off x="-1645920" y="4572000"/>
            <a:ext cx="3657600" cy="3657600"/>
          </a:xfrm>
          <a:prstGeom prst="ellipse">
            <a:avLst/>
          </a:prstGeom>
          <a:solidFill>
            <a:srgbClr val="84A98C">
              <a:alpha val="25000"/>
            </a:srgbClr>
          </a:solidFill>
          <a:ln/>
        </p:spPr>
      </p:sp>
      <p:pic>
        <p:nvPicPr>
          <p:cNvPr id="4" name="Image 0" descr="preencoded.png"/>
          <p:cNvPicPr>
            <a:picLocks noChangeAspect="1"/>
          </p:cNvPicPr>
          <p:nvPr/>
        </p:nvPicPr>
        <p:blipFill>
          <a:blip r:embed="rId3"/>
          <a:stretch>
            <a:fillRect/>
          </a:stretch>
        </p:blipFill>
        <p:spPr>
          <a:xfrm>
            <a:off x="822960" y="822960"/>
            <a:ext cx="822960" cy="822960"/>
          </a:xfrm>
          <a:prstGeom prst="rect">
            <a:avLst/>
          </a:prstGeom>
        </p:spPr>
      </p:pic>
      <p:sp>
        <p:nvSpPr>
          <p:cNvPr id="5" name="Text 2"/>
          <p:cNvSpPr/>
          <p:nvPr/>
        </p:nvSpPr>
        <p:spPr>
          <a:xfrm>
            <a:off x="822960" y="1965960"/>
            <a:ext cx="1051560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SMART WASTE CLASSIFICATION</a:t>
            </a:r>
            <a:endParaRPr lang="en-US" sz="4000" dirty="0"/>
          </a:p>
        </p:txBody>
      </p:sp>
      <p:sp>
        <p:nvSpPr>
          <p:cNvPr id="6" name="Text 3"/>
          <p:cNvSpPr/>
          <p:nvPr/>
        </p:nvSpPr>
        <p:spPr>
          <a:xfrm>
            <a:off x="822960" y="2743200"/>
            <a:ext cx="10515600" cy="640080"/>
          </a:xfrm>
          <a:prstGeom prst="rect">
            <a:avLst/>
          </a:prstGeom>
          <a:noFill/>
          <a:ln/>
        </p:spPr>
        <p:txBody>
          <a:bodyPr wrap="square" lIns="0" tIns="0" rIns="0" bIns="0" rtlCol="0" anchor="ctr"/>
          <a:lstStyle/>
          <a:p>
            <a:pPr marL="0" indent="0" algn="l">
              <a:buNone/>
            </a:pPr>
            <a:r>
              <a:rPr lang="en-US" sz="2200" dirty="0">
                <a:solidFill>
                  <a:srgbClr val="84A98C"/>
                </a:solidFill>
                <a:latin typeface="Calibri" pitchFamily="34" charset="0"/>
                <a:ea typeface="Calibri" pitchFamily="34" charset="-122"/>
                <a:cs typeface="Calibri" pitchFamily="34" charset="-120"/>
              </a:rPr>
              <a:t>for Recycling Using Deep Learning</a:t>
            </a:r>
            <a:endParaRPr lang="en-US" sz="2200" dirty="0"/>
          </a:p>
        </p:txBody>
      </p:sp>
      <p:sp>
        <p:nvSpPr>
          <p:cNvPr id="7" name="Shape 4"/>
          <p:cNvSpPr/>
          <p:nvPr/>
        </p:nvSpPr>
        <p:spPr>
          <a:xfrm>
            <a:off x="822960" y="3611880"/>
            <a:ext cx="1463040" cy="18288"/>
          </a:xfrm>
          <a:prstGeom prst="rect">
            <a:avLst/>
          </a:prstGeom>
          <a:solidFill>
            <a:srgbClr val="000000"/>
          </a:solidFill>
          <a:ln/>
        </p:spPr>
      </p:sp>
      <p:sp>
        <p:nvSpPr>
          <p:cNvPr id="8" name="Text 5"/>
          <p:cNvSpPr/>
          <p:nvPr/>
        </p:nvSpPr>
        <p:spPr>
          <a:xfrm>
            <a:off x="822960" y="3794760"/>
            <a:ext cx="9144000" cy="457200"/>
          </a:xfrm>
          <a:prstGeom prst="rect">
            <a:avLst/>
          </a:prstGeom>
          <a:noFill/>
          <a:ln/>
        </p:spPr>
        <p:txBody>
          <a:bodyPr wrap="square" lIns="0" tIns="0" rIns="0" bIns="0" rtlCol="0" anchor="ctr"/>
          <a:lstStyle/>
          <a:p>
            <a:pPr marL="0" indent="0">
              <a:buNone/>
            </a:pPr>
            <a:r>
              <a:rPr lang="en-US" sz="1400" dirty="0">
                <a:solidFill>
                  <a:srgbClr val="FFFFFF"/>
                </a:solidFill>
              </a:rPr>
              <a:t>CNN-based image classification  </a:t>
            </a:r>
            <a:r>
              <a:rPr lang="en-US" sz="1400" dirty="0">
                <a:solidFill>
                  <a:srgbClr val="CBA135"/>
                </a:solidFill>
              </a:rPr>
              <a:t>•  </a:t>
            </a:r>
            <a:r>
              <a:rPr lang="en-US" sz="1400" dirty="0">
                <a:solidFill>
                  <a:srgbClr val="FFFFFF"/>
                </a:solidFill>
              </a:rPr>
              <a:t>6 waste categories  </a:t>
            </a:r>
            <a:r>
              <a:rPr lang="en-US" sz="1400" dirty="0">
                <a:solidFill>
                  <a:srgbClr val="CBA135"/>
                </a:solidFill>
              </a:rPr>
              <a:t>•  </a:t>
            </a:r>
            <a:r>
              <a:rPr lang="en-US" sz="1400" dirty="0">
                <a:solidFill>
                  <a:srgbClr val="FFFFFF"/>
                </a:solidFill>
              </a:rPr>
              <a:t>TensorFlow / Keras</a:t>
            </a:r>
            <a:endParaRPr lang="en-US" sz="1400" dirty="0"/>
          </a:p>
        </p:txBody>
      </p:sp>
      <p:sp>
        <p:nvSpPr>
          <p:cNvPr id="9" name="Text 6"/>
          <p:cNvSpPr/>
          <p:nvPr/>
        </p:nvSpPr>
        <p:spPr>
          <a:xfrm>
            <a:off x="822960" y="6126480"/>
            <a:ext cx="7315200" cy="365760"/>
          </a:xfrm>
          <a:prstGeom prst="rect">
            <a:avLst/>
          </a:prstGeom>
          <a:noFill/>
          <a:ln/>
        </p:spPr>
        <p:txBody>
          <a:bodyPr wrap="square" lIns="0" tIns="0" rIns="0" bIns="0" rtlCol="0" anchor="ctr"/>
          <a:lstStyle/>
          <a:p>
            <a:pPr marL="0" indent="0">
              <a:buNone/>
            </a:pPr>
            <a:r>
              <a:rPr lang="en-US" sz="1300" dirty="0">
                <a:solidFill>
                  <a:srgbClr val="84A98C"/>
                </a:solidFill>
                <a:latin typeface="Calibri" pitchFamily="34" charset="0"/>
                <a:ea typeface="Calibri" pitchFamily="34" charset="-122"/>
                <a:cs typeface="Calibri" pitchFamily="34" charset="-120"/>
              </a:rPr>
              <a:t>Alan  |  Data Science Portfolio Project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lIns="0" tIns="0" rIns="0" bIns="0" rtlCol="0" anchor="ctr"/>
          <a:lstStyle/>
          <a:p>
            <a:pPr marL="0" indent="0">
              <a:buNone/>
            </a:pPr>
            <a:r>
              <a:rPr lang="en-US" sz="3200" b="1" dirty="0">
                <a:solidFill>
                  <a:srgbClr val="1B4332"/>
                </a:solidFill>
                <a:latin typeface="Cambria" pitchFamily="34" charset="0"/>
                <a:ea typeface="Cambria" pitchFamily="34" charset="-122"/>
                <a:cs typeface="Cambria" pitchFamily="34" charset="-120"/>
              </a:rPr>
              <a:t>Project Overview</a:t>
            </a:r>
            <a:endParaRPr lang="en-US" sz="3200" dirty="0"/>
          </a:p>
        </p:txBody>
      </p:sp>
      <p:sp>
        <p:nvSpPr>
          <p:cNvPr id="3" name="Shape 1"/>
          <p:cNvSpPr/>
          <p:nvPr/>
        </p:nvSpPr>
        <p:spPr>
          <a:xfrm>
            <a:off x="640080" y="1371600"/>
            <a:ext cx="6126480" cy="4754880"/>
          </a:xfrm>
          <a:prstGeom prst="roundRect">
            <a:avLst>
              <a:gd name="adj" fmla="val 1538"/>
            </a:avLst>
          </a:prstGeom>
          <a:solidFill>
            <a:srgbClr val="FFFFFF"/>
          </a:solidFill>
          <a:ln/>
          <a:effectLst>
            <a:outerShdw blurRad="101600" dist="38100" dir="2700000" algn="bl" rotWithShape="0">
              <a:srgbClr val="000000">
                <a:alpha val="12000"/>
              </a:srgbClr>
            </a:outerShdw>
          </a:effectLst>
        </p:spPr>
      </p:sp>
      <p:pic>
        <p:nvPicPr>
          <p:cNvPr id="4" name="Image 0" descr="preencoded.png"/>
          <p:cNvPicPr>
            <a:picLocks noChangeAspect="1"/>
          </p:cNvPicPr>
          <p:nvPr/>
        </p:nvPicPr>
        <p:blipFill>
          <a:blip r:embed="rId3"/>
          <a:stretch>
            <a:fillRect/>
          </a:stretch>
        </p:blipFill>
        <p:spPr>
          <a:xfrm>
            <a:off x="1005840" y="1737360"/>
            <a:ext cx="457200" cy="457200"/>
          </a:xfrm>
          <a:prstGeom prst="rect">
            <a:avLst/>
          </a:prstGeom>
        </p:spPr>
      </p:pic>
      <p:sp>
        <p:nvSpPr>
          <p:cNvPr id="5" name="Text 2"/>
          <p:cNvSpPr/>
          <p:nvPr/>
        </p:nvSpPr>
        <p:spPr>
          <a:xfrm>
            <a:off x="1600200" y="1783080"/>
            <a:ext cx="4572000" cy="365760"/>
          </a:xfrm>
          <a:prstGeom prst="rect">
            <a:avLst/>
          </a:prstGeom>
          <a:noFill/>
          <a:ln/>
        </p:spPr>
        <p:txBody>
          <a:bodyPr wrap="square" lIns="0" tIns="0" rIns="0" bIns="0" rtlCol="0" anchor="ctr"/>
          <a:lstStyle/>
          <a:p>
            <a:pPr marL="0" indent="0">
              <a:buNone/>
            </a:pPr>
            <a:r>
              <a:rPr lang="en-US" sz="1600" b="1" dirty="0">
                <a:solidFill>
                  <a:srgbClr val="1B4332"/>
                </a:solidFill>
                <a:latin typeface="Calibri" pitchFamily="34" charset="0"/>
                <a:ea typeface="Calibri" pitchFamily="34" charset="-122"/>
                <a:cs typeface="Calibri" pitchFamily="34" charset="-120"/>
              </a:rPr>
              <a:t>The Problem</a:t>
            </a:r>
            <a:endParaRPr lang="en-US" sz="1600" dirty="0"/>
          </a:p>
        </p:txBody>
      </p:sp>
      <p:sp>
        <p:nvSpPr>
          <p:cNvPr id="6" name="Text 3"/>
          <p:cNvSpPr/>
          <p:nvPr/>
        </p:nvSpPr>
        <p:spPr>
          <a:xfrm>
            <a:off x="1005840" y="2286000"/>
            <a:ext cx="5394960" cy="1005840"/>
          </a:xfrm>
          <a:prstGeom prst="rect">
            <a:avLst/>
          </a:prstGeom>
          <a:noFill/>
          <a:ln/>
        </p:spPr>
        <p:txBody>
          <a:bodyPr wrap="square" lIns="0" tIns="0" rIns="0" bIns="0" rtlCol="0" anchor="t"/>
          <a:lstStyle/>
          <a:p>
            <a:pPr marL="0" indent="0">
              <a:buNone/>
            </a:pPr>
            <a:r>
              <a:rPr lang="en-US" sz="1350" dirty="0">
                <a:solidFill>
                  <a:srgbClr val="1B2A25"/>
                </a:solidFill>
                <a:latin typeface="Calibri" pitchFamily="34" charset="0"/>
                <a:ea typeface="Calibri" pitchFamily="34" charset="-122"/>
                <a:cs typeface="Calibri" pitchFamily="34" charset="-120"/>
              </a:rPr>
              <a:t>Manual waste sorting is slow, inconsistent, and error-prone — leading to contamination of recyclables and more waste sent to landfills.</a:t>
            </a:r>
            <a:endParaRPr lang="en-US" sz="1350" dirty="0"/>
          </a:p>
        </p:txBody>
      </p:sp>
      <p:pic>
        <p:nvPicPr>
          <p:cNvPr id="7" name="Image 1" descr="preencoded.png"/>
          <p:cNvPicPr>
            <a:picLocks noChangeAspect="1"/>
          </p:cNvPicPr>
          <p:nvPr/>
        </p:nvPicPr>
        <p:blipFill>
          <a:blip r:embed="rId4"/>
          <a:stretch>
            <a:fillRect/>
          </a:stretch>
        </p:blipFill>
        <p:spPr>
          <a:xfrm>
            <a:off x="1005840" y="3520440"/>
            <a:ext cx="457200" cy="457200"/>
          </a:xfrm>
          <a:prstGeom prst="rect">
            <a:avLst/>
          </a:prstGeom>
        </p:spPr>
      </p:pic>
      <p:sp>
        <p:nvSpPr>
          <p:cNvPr id="8" name="Text 4"/>
          <p:cNvSpPr/>
          <p:nvPr/>
        </p:nvSpPr>
        <p:spPr>
          <a:xfrm>
            <a:off x="1600200" y="3566160"/>
            <a:ext cx="4572000" cy="365760"/>
          </a:xfrm>
          <a:prstGeom prst="rect">
            <a:avLst/>
          </a:prstGeom>
          <a:noFill/>
          <a:ln/>
        </p:spPr>
        <p:txBody>
          <a:bodyPr wrap="square" lIns="0" tIns="0" rIns="0" bIns="0" rtlCol="0" anchor="ctr"/>
          <a:lstStyle/>
          <a:p>
            <a:pPr marL="0" indent="0">
              <a:buNone/>
            </a:pPr>
            <a:r>
              <a:rPr lang="en-US" sz="1600" b="1" dirty="0">
                <a:solidFill>
                  <a:srgbClr val="1B4332"/>
                </a:solidFill>
                <a:latin typeface="Calibri" pitchFamily="34" charset="0"/>
                <a:ea typeface="Calibri" pitchFamily="34" charset="-122"/>
                <a:cs typeface="Calibri" pitchFamily="34" charset="-120"/>
              </a:rPr>
              <a:t>The Solution</a:t>
            </a:r>
            <a:endParaRPr lang="en-US" sz="1600" dirty="0"/>
          </a:p>
        </p:txBody>
      </p:sp>
      <p:sp>
        <p:nvSpPr>
          <p:cNvPr id="9" name="Text 5"/>
          <p:cNvSpPr/>
          <p:nvPr/>
        </p:nvSpPr>
        <p:spPr>
          <a:xfrm>
            <a:off x="1005840" y="4069080"/>
            <a:ext cx="5394960" cy="1463040"/>
          </a:xfrm>
          <a:prstGeom prst="rect">
            <a:avLst/>
          </a:prstGeom>
          <a:noFill/>
          <a:ln/>
        </p:spPr>
        <p:txBody>
          <a:bodyPr wrap="square" lIns="0" tIns="0" rIns="0" bIns="0" rtlCol="0" anchor="t"/>
          <a:lstStyle/>
          <a:p>
            <a:pPr marL="0" indent="0">
              <a:buNone/>
            </a:pPr>
            <a:r>
              <a:rPr lang="en-US" sz="1350" dirty="0">
                <a:solidFill>
                  <a:srgbClr val="1B2A25"/>
                </a:solidFill>
                <a:latin typeface="Calibri" pitchFamily="34" charset="0"/>
                <a:ea typeface="Calibri" pitchFamily="34" charset="-122"/>
                <a:cs typeface="Calibri" pitchFamily="34" charset="-120"/>
              </a:rPr>
              <a:t>A Convolutional Neural Network (CNN) automatically identifies the waste category from an image and suggests the correct recycling bin — improving accuracy and speed of sorting.</a:t>
            </a:r>
            <a:endParaRPr lang="en-US" sz="1350" dirty="0"/>
          </a:p>
        </p:txBody>
      </p:sp>
      <p:sp>
        <p:nvSpPr>
          <p:cNvPr id="10" name="Shape 6"/>
          <p:cNvSpPr/>
          <p:nvPr/>
        </p:nvSpPr>
        <p:spPr>
          <a:xfrm>
            <a:off x="7086600" y="1371600"/>
            <a:ext cx="4480560" cy="4754880"/>
          </a:xfrm>
          <a:prstGeom prst="roundRect">
            <a:avLst>
              <a:gd name="adj" fmla="val 1633"/>
            </a:avLst>
          </a:prstGeom>
          <a:solidFill>
            <a:srgbClr val="1B4332"/>
          </a:solidFill>
          <a:ln/>
          <a:effectLst>
            <a:outerShdw blurRad="101600" dist="38100" dir="2700000" algn="bl" rotWithShape="0">
              <a:srgbClr val="000000">
                <a:alpha val="15000"/>
              </a:srgbClr>
            </a:outerShdw>
          </a:effectLst>
        </p:spPr>
      </p:sp>
      <p:pic>
        <p:nvPicPr>
          <p:cNvPr id="11" name="Image 2" descr="preencoded.png"/>
          <p:cNvPicPr>
            <a:picLocks noChangeAspect="1"/>
          </p:cNvPicPr>
          <p:nvPr/>
        </p:nvPicPr>
        <p:blipFill>
          <a:blip r:embed="rId5"/>
          <a:stretch>
            <a:fillRect/>
          </a:stretch>
        </p:blipFill>
        <p:spPr>
          <a:xfrm>
            <a:off x="8915400" y="1737360"/>
            <a:ext cx="822960" cy="822960"/>
          </a:xfrm>
          <a:prstGeom prst="rect">
            <a:avLst/>
          </a:prstGeom>
        </p:spPr>
      </p:pic>
      <p:sp>
        <p:nvSpPr>
          <p:cNvPr id="12" name="Text 7"/>
          <p:cNvSpPr/>
          <p:nvPr/>
        </p:nvSpPr>
        <p:spPr>
          <a:xfrm>
            <a:off x="7086600" y="2697480"/>
            <a:ext cx="4480560" cy="914400"/>
          </a:xfrm>
          <a:prstGeom prst="rect">
            <a:avLst/>
          </a:prstGeom>
          <a:noFill/>
          <a:ln/>
        </p:spPr>
        <p:txBody>
          <a:bodyPr wrap="square" lIns="0" tIns="0" rIns="0" bIns="0" rtlCol="0" anchor="ctr"/>
          <a:lstStyle/>
          <a:p>
            <a:pPr marL="0" indent="0" algn="ctr">
              <a:buNone/>
            </a:pPr>
            <a:r>
              <a:rPr lang="en-US" sz="6000" b="1" dirty="0">
                <a:solidFill>
                  <a:srgbClr val="CBA135"/>
                </a:solidFill>
                <a:latin typeface="Cambria" pitchFamily="34" charset="0"/>
                <a:ea typeface="Cambria" pitchFamily="34" charset="-122"/>
                <a:cs typeface="Cambria" pitchFamily="34" charset="-120"/>
              </a:rPr>
              <a:t>6</a:t>
            </a:r>
            <a:endParaRPr lang="en-US" sz="6000" dirty="0"/>
          </a:p>
        </p:txBody>
      </p:sp>
      <p:sp>
        <p:nvSpPr>
          <p:cNvPr id="13" name="Text 8"/>
          <p:cNvSpPr/>
          <p:nvPr/>
        </p:nvSpPr>
        <p:spPr>
          <a:xfrm>
            <a:off x="7269480" y="3611880"/>
            <a:ext cx="4114800" cy="45720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Waste Categories Classified</a:t>
            </a:r>
            <a:endParaRPr lang="en-US" sz="1400" dirty="0"/>
          </a:p>
        </p:txBody>
      </p:sp>
      <p:sp>
        <p:nvSpPr>
          <p:cNvPr id="14" name="Shape 9"/>
          <p:cNvSpPr/>
          <p:nvPr/>
        </p:nvSpPr>
        <p:spPr>
          <a:xfrm>
            <a:off x="7589520" y="4251960"/>
            <a:ext cx="3474720" cy="0"/>
          </a:xfrm>
          <a:prstGeom prst="line">
            <a:avLst/>
          </a:prstGeom>
          <a:noFill/>
          <a:ln w="12700">
            <a:solidFill>
              <a:srgbClr val="84A98C"/>
            </a:solidFill>
            <a:prstDash val="solid"/>
          </a:ln>
        </p:spPr>
      </p:sp>
      <p:sp>
        <p:nvSpPr>
          <p:cNvPr id="15" name="Text 10"/>
          <p:cNvSpPr/>
          <p:nvPr/>
        </p:nvSpPr>
        <p:spPr>
          <a:xfrm>
            <a:off x="7086600" y="4434840"/>
            <a:ext cx="4480560" cy="640080"/>
          </a:xfrm>
          <a:prstGeom prst="rect">
            <a:avLst/>
          </a:prstGeom>
          <a:noFill/>
          <a:ln/>
        </p:spPr>
        <p:txBody>
          <a:bodyPr wrap="square" lIns="0" tIns="0" rIns="0" bIns="0" rtlCol="0" anchor="ctr"/>
          <a:lstStyle/>
          <a:p>
            <a:pPr marL="0" indent="0" algn="ctr">
              <a:buNone/>
            </a:pPr>
            <a:r>
              <a:rPr lang="en-US" sz="3400" b="1" dirty="0">
                <a:solidFill>
                  <a:srgbClr val="CBA135"/>
                </a:solidFill>
                <a:latin typeface="Cambria" pitchFamily="34" charset="0"/>
                <a:ea typeface="Cambria" pitchFamily="34" charset="-122"/>
                <a:cs typeface="Cambria" pitchFamily="34" charset="-120"/>
              </a:rPr>
              <a:t>98%+</a:t>
            </a:r>
            <a:endParaRPr lang="en-US" sz="3400" dirty="0"/>
          </a:p>
        </p:txBody>
      </p:sp>
      <p:sp>
        <p:nvSpPr>
          <p:cNvPr id="16" name="Text 11"/>
          <p:cNvSpPr/>
          <p:nvPr/>
        </p:nvSpPr>
        <p:spPr>
          <a:xfrm>
            <a:off x="7269480" y="5029200"/>
            <a:ext cx="4114800" cy="41148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Peak Prediction Confidence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lIns="0" tIns="0" rIns="0" bIns="0" rtlCol="0" anchor="ctr"/>
          <a:lstStyle/>
          <a:p>
            <a:pPr marL="0" indent="0">
              <a:buNone/>
            </a:pPr>
            <a:r>
              <a:rPr lang="en-US" sz="3200" b="1" dirty="0">
                <a:solidFill>
                  <a:srgbClr val="1B4332"/>
                </a:solidFill>
                <a:latin typeface="Cambria" pitchFamily="34" charset="0"/>
                <a:ea typeface="Cambria" pitchFamily="34" charset="-122"/>
                <a:cs typeface="Cambria" pitchFamily="34" charset="-120"/>
              </a:rPr>
              <a:t>Waste Categories</a:t>
            </a:r>
            <a:endParaRPr lang="en-US" sz="3200" dirty="0"/>
          </a:p>
        </p:txBody>
      </p:sp>
      <p:sp>
        <p:nvSpPr>
          <p:cNvPr id="3" name="Text 1"/>
          <p:cNvSpPr/>
          <p:nvPr/>
        </p:nvSpPr>
        <p:spPr>
          <a:xfrm>
            <a:off x="640080" y="1051560"/>
            <a:ext cx="8229600" cy="365760"/>
          </a:xfrm>
          <a:prstGeom prst="rect">
            <a:avLst/>
          </a:prstGeom>
          <a:noFill/>
          <a:ln/>
        </p:spPr>
        <p:txBody>
          <a:bodyPr wrap="square" lIns="0" tIns="0" rIns="0" bIns="0" rtlCol="0" anchor="ctr"/>
          <a:lstStyle/>
          <a:p>
            <a:pPr marL="0" indent="0">
              <a:buNone/>
            </a:pPr>
            <a:r>
              <a:rPr lang="en-US" sz="1400" dirty="0">
                <a:solidFill>
                  <a:srgbClr val="6B7A72"/>
                </a:solidFill>
                <a:latin typeface="Calibri" pitchFamily="34" charset="0"/>
                <a:ea typeface="Calibri" pitchFamily="34" charset="-122"/>
                <a:cs typeface="Calibri" pitchFamily="34" charset="-120"/>
              </a:rPr>
              <a:t>The model classifies images into six standard recycling classes</a:t>
            </a:r>
            <a:endParaRPr lang="en-US" sz="1400" dirty="0"/>
          </a:p>
        </p:txBody>
      </p:sp>
      <p:sp>
        <p:nvSpPr>
          <p:cNvPr id="4" name="Shape 2"/>
          <p:cNvSpPr/>
          <p:nvPr/>
        </p:nvSpPr>
        <p:spPr>
          <a:xfrm>
            <a:off x="640080" y="1828800"/>
            <a:ext cx="3429000" cy="1965960"/>
          </a:xfrm>
          <a:prstGeom prst="roundRect">
            <a:avLst>
              <a:gd name="adj" fmla="val 3721"/>
            </a:avLst>
          </a:prstGeom>
          <a:solidFill>
            <a:srgbClr val="FFFFFF"/>
          </a:solidFill>
          <a:ln/>
          <a:effectLst>
            <a:outerShdw blurRad="76200" dist="25400" dir="2700000" algn="bl" rotWithShape="0">
              <a:srgbClr val="000000">
                <a:alpha val="10000"/>
              </a:srgbClr>
            </a:outerShdw>
          </a:effectLst>
        </p:spPr>
      </p:sp>
      <p:sp>
        <p:nvSpPr>
          <p:cNvPr id="5" name="Shape 3"/>
          <p:cNvSpPr/>
          <p:nvPr/>
        </p:nvSpPr>
        <p:spPr>
          <a:xfrm>
            <a:off x="1943100" y="2103120"/>
            <a:ext cx="822960" cy="822960"/>
          </a:xfrm>
          <a:prstGeom prst="ellipse">
            <a:avLst/>
          </a:prstGeom>
          <a:solidFill>
            <a:srgbClr val="F5F3EE"/>
          </a:solidFill>
          <a:ln/>
        </p:spPr>
      </p:sp>
      <p:pic>
        <p:nvPicPr>
          <p:cNvPr id="6" name="Image 0" descr="preencoded.png"/>
          <p:cNvPicPr>
            <a:picLocks noChangeAspect="1"/>
          </p:cNvPicPr>
          <p:nvPr/>
        </p:nvPicPr>
        <p:blipFill>
          <a:blip r:embed="rId3"/>
          <a:stretch>
            <a:fillRect/>
          </a:stretch>
        </p:blipFill>
        <p:spPr>
          <a:xfrm>
            <a:off x="2107692" y="2267712"/>
            <a:ext cx="493776" cy="493776"/>
          </a:xfrm>
          <a:prstGeom prst="rect">
            <a:avLst/>
          </a:prstGeom>
        </p:spPr>
      </p:pic>
      <p:sp>
        <p:nvSpPr>
          <p:cNvPr id="7" name="Text 4"/>
          <p:cNvSpPr/>
          <p:nvPr/>
        </p:nvSpPr>
        <p:spPr>
          <a:xfrm>
            <a:off x="640080" y="3063240"/>
            <a:ext cx="3429000" cy="457200"/>
          </a:xfrm>
          <a:prstGeom prst="rect">
            <a:avLst/>
          </a:prstGeom>
          <a:noFill/>
          <a:ln/>
        </p:spPr>
        <p:txBody>
          <a:bodyPr wrap="square" lIns="0" tIns="0" rIns="0" bIns="0" rtlCol="0" anchor="ctr"/>
          <a:lstStyle/>
          <a:p>
            <a:pPr marL="0" indent="0" algn="ctr">
              <a:buNone/>
            </a:pPr>
            <a:r>
              <a:rPr lang="en-US" sz="1600" b="1" dirty="0">
                <a:solidFill>
                  <a:srgbClr val="1B4332"/>
                </a:solidFill>
                <a:latin typeface="Calibri" pitchFamily="34" charset="0"/>
                <a:ea typeface="Calibri" pitchFamily="34" charset="-122"/>
                <a:cs typeface="Calibri" pitchFamily="34" charset="-120"/>
              </a:rPr>
              <a:t>Paper</a:t>
            </a:r>
            <a:endParaRPr lang="en-US" sz="1600" dirty="0"/>
          </a:p>
        </p:txBody>
      </p:sp>
      <p:sp>
        <p:nvSpPr>
          <p:cNvPr id="8" name="Shape 5"/>
          <p:cNvSpPr/>
          <p:nvPr/>
        </p:nvSpPr>
        <p:spPr>
          <a:xfrm>
            <a:off x="4389120" y="1828800"/>
            <a:ext cx="3429000" cy="1965960"/>
          </a:xfrm>
          <a:prstGeom prst="roundRect">
            <a:avLst>
              <a:gd name="adj" fmla="val 3721"/>
            </a:avLst>
          </a:prstGeom>
          <a:solidFill>
            <a:srgbClr val="FFFFFF"/>
          </a:solidFill>
          <a:ln/>
          <a:effectLst>
            <a:outerShdw blurRad="76200" dist="25400" dir="2700000" algn="bl" rotWithShape="0">
              <a:srgbClr val="000000">
                <a:alpha val="10000"/>
              </a:srgbClr>
            </a:outerShdw>
          </a:effectLst>
        </p:spPr>
      </p:sp>
      <p:sp>
        <p:nvSpPr>
          <p:cNvPr id="9" name="Shape 6"/>
          <p:cNvSpPr/>
          <p:nvPr/>
        </p:nvSpPr>
        <p:spPr>
          <a:xfrm>
            <a:off x="5692140" y="2103120"/>
            <a:ext cx="822960" cy="822960"/>
          </a:xfrm>
          <a:prstGeom prst="ellipse">
            <a:avLst/>
          </a:prstGeom>
          <a:solidFill>
            <a:srgbClr val="F5F3EE"/>
          </a:solidFill>
          <a:ln/>
        </p:spPr>
      </p:sp>
      <p:pic>
        <p:nvPicPr>
          <p:cNvPr id="10" name="Image 1" descr="preencoded.png"/>
          <p:cNvPicPr>
            <a:picLocks noChangeAspect="1"/>
          </p:cNvPicPr>
          <p:nvPr/>
        </p:nvPicPr>
        <p:blipFill>
          <a:blip r:embed="rId4"/>
          <a:stretch>
            <a:fillRect/>
          </a:stretch>
        </p:blipFill>
        <p:spPr>
          <a:xfrm>
            <a:off x="5856732" y="2267712"/>
            <a:ext cx="493776" cy="493776"/>
          </a:xfrm>
          <a:prstGeom prst="rect">
            <a:avLst/>
          </a:prstGeom>
        </p:spPr>
      </p:pic>
      <p:sp>
        <p:nvSpPr>
          <p:cNvPr id="11" name="Text 7"/>
          <p:cNvSpPr/>
          <p:nvPr/>
        </p:nvSpPr>
        <p:spPr>
          <a:xfrm>
            <a:off x="4389120" y="3063240"/>
            <a:ext cx="3429000" cy="457200"/>
          </a:xfrm>
          <a:prstGeom prst="rect">
            <a:avLst/>
          </a:prstGeom>
          <a:noFill/>
          <a:ln/>
        </p:spPr>
        <p:txBody>
          <a:bodyPr wrap="square" lIns="0" tIns="0" rIns="0" bIns="0" rtlCol="0" anchor="ctr"/>
          <a:lstStyle/>
          <a:p>
            <a:pPr marL="0" indent="0" algn="ctr">
              <a:buNone/>
            </a:pPr>
            <a:r>
              <a:rPr lang="en-US" sz="1600" b="1" dirty="0">
                <a:solidFill>
                  <a:srgbClr val="1B4332"/>
                </a:solidFill>
                <a:latin typeface="Calibri" pitchFamily="34" charset="0"/>
                <a:ea typeface="Calibri" pitchFamily="34" charset="-122"/>
                <a:cs typeface="Calibri" pitchFamily="34" charset="-120"/>
              </a:rPr>
              <a:t>Plastic</a:t>
            </a:r>
            <a:endParaRPr lang="en-US" sz="1600" dirty="0"/>
          </a:p>
        </p:txBody>
      </p:sp>
      <p:sp>
        <p:nvSpPr>
          <p:cNvPr id="12" name="Shape 8"/>
          <p:cNvSpPr/>
          <p:nvPr/>
        </p:nvSpPr>
        <p:spPr>
          <a:xfrm>
            <a:off x="8138160" y="1828800"/>
            <a:ext cx="3429000" cy="1965960"/>
          </a:xfrm>
          <a:prstGeom prst="roundRect">
            <a:avLst>
              <a:gd name="adj" fmla="val 3721"/>
            </a:avLst>
          </a:prstGeom>
          <a:solidFill>
            <a:srgbClr val="FFFFFF"/>
          </a:solidFill>
          <a:ln/>
          <a:effectLst>
            <a:outerShdw blurRad="76200" dist="25400" dir="2700000" algn="bl" rotWithShape="0">
              <a:srgbClr val="000000">
                <a:alpha val="10000"/>
              </a:srgbClr>
            </a:outerShdw>
          </a:effectLst>
        </p:spPr>
      </p:sp>
      <p:sp>
        <p:nvSpPr>
          <p:cNvPr id="13" name="Shape 9"/>
          <p:cNvSpPr/>
          <p:nvPr/>
        </p:nvSpPr>
        <p:spPr>
          <a:xfrm>
            <a:off x="9441180" y="2103120"/>
            <a:ext cx="822960" cy="822960"/>
          </a:xfrm>
          <a:prstGeom prst="ellipse">
            <a:avLst/>
          </a:prstGeom>
          <a:solidFill>
            <a:srgbClr val="F5F3EE"/>
          </a:solidFill>
          <a:ln/>
        </p:spPr>
      </p:sp>
      <p:pic>
        <p:nvPicPr>
          <p:cNvPr id="14" name="Image 2" descr="preencoded.png"/>
          <p:cNvPicPr>
            <a:picLocks noChangeAspect="1"/>
          </p:cNvPicPr>
          <p:nvPr/>
        </p:nvPicPr>
        <p:blipFill>
          <a:blip r:embed="rId5"/>
          <a:stretch>
            <a:fillRect/>
          </a:stretch>
        </p:blipFill>
        <p:spPr>
          <a:xfrm>
            <a:off x="9605772" y="2267712"/>
            <a:ext cx="493776" cy="493776"/>
          </a:xfrm>
          <a:prstGeom prst="rect">
            <a:avLst/>
          </a:prstGeom>
        </p:spPr>
      </p:pic>
      <p:sp>
        <p:nvSpPr>
          <p:cNvPr id="15" name="Text 10"/>
          <p:cNvSpPr/>
          <p:nvPr/>
        </p:nvSpPr>
        <p:spPr>
          <a:xfrm>
            <a:off x="8138160" y="3063240"/>
            <a:ext cx="3429000" cy="457200"/>
          </a:xfrm>
          <a:prstGeom prst="rect">
            <a:avLst/>
          </a:prstGeom>
          <a:noFill/>
          <a:ln/>
        </p:spPr>
        <p:txBody>
          <a:bodyPr wrap="square" lIns="0" tIns="0" rIns="0" bIns="0" rtlCol="0" anchor="ctr"/>
          <a:lstStyle/>
          <a:p>
            <a:pPr marL="0" indent="0" algn="ctr">
              <a:buNone/>
            </a:pPr>
            <a:r>
              <a:rPr lang="en-US" sz="1600" b="1" dirty="0">
                <a:solidFill>
                  <a:srgbClr val="1B4332"/>
                </a:solidFill>
                <a:latin typeface="Calibri" pitchFamily="34" charset="0"/>
                <a:ea typeface="Calibri" pitchFamily="34" charset="-122"/>
                <a:cs typeface="Calibri" pitchFamily="34" charset="-120"/>
              </a:rPr>
              <a:t>Glass</a:t>
            </a:r>
            <a:endParaRPr lang="en-US" sz="1600" dirty="0"/>
          </a:p>
        </p:txBody>
      </p:sp>
      <p:sp>
        <p:nvSpPr>
          <p:cNvPr id="16" name="Shape 11"/>
          <p:cNvSpPr/>
          <p:nvPr/>
        </p:nvSpPr>
        <p:spPr>
          <a:xfrm>
            <a:off x="640080" y="4114800"/>
            <a:ext cx="3429000" cy="1965960"/>
          </a:xfrm>
          <a:prstGeom prst="roundRect">
            <a:avLst>
              <a:gd name="adj" fmla="val 3721"/>
            </a:avLst>
          </a:prstGeom>
          <a:solidFill>
            <a:srgbClr val="FFFFFF"/>
          </a:solidFill>
          <a:ln/>
          <a:effectLst>
            <a:outerShdw blurRad="76200" dist="25400" dir="2700000" algn="bl" rotWithShape="0">
              <a:srgbClr val="000000">
                <a:alpha val="10000"/>
              </a:srgbClr>
            </a:outerShdw>
          </a:effectLst>
        </p:spPr>
      </p:sp>
      <p:sp>
        <p:nvSpPr>
          <p:cNvPr id="17" name="Shape 12"/>
          <p:cNvSpPr/>
          <p:nvPr/>
        </p:nvSpPr>
        <p:spPr>
          <a:xfrm>
            <a:off x="1943100" y="4389120"/>
            <a:ext cx="822960" cy="822960"/>
          </a:xfrm>
          <a:prstGeom prst="ellipse">
            <a:avLst/>
          </a:prstGeom>
          <a:solidFill>
            <a:srgbClr val="F5F3EE"/>
          </a:solidFill>
          <a:ln/>
        </p:spPr>
      </p:sp>
      <p:pic>
        <p:nvPicPr>
          <p:cNvPr id="18" name="Image 3" descr="preencoded.png"/>
          <p:cNvPicPr>
            <a:picLocks noChangeAspect="1"/>
          </p:cNvPicPr>
          <p:nvPr/>
        </p:nvPicPr>
        <p:blipFill>
          <a:blip r:embed="rId6"/>
          <a:stretch>
            <a:fillRect/>
          </a:stretch>
        </p:blipFill>
        <p:spPr>
          <a:xfrm>
            <a:off x="2107692" y="4553712"/>
            <a:ext cx="493776" cy="493776"/>
          </a:xfrm>
          <a:prstGeom prst="rect">
            <a:avLst/>
          </a:prstGeom>
        </p:spPr>
      </p:pic>
      <p:sp>
        <p:nvSpPr>
          <p:cNvPr id="19" name="Text 13"/>
          <p:cNvSpPr/>
          <p:nvPr/>
        </p:nvSpPr>
        <p:spPr>
          <a:xfrm>
            <a:off x="640080" y="5349240"/>
            <a:ext cx="3429000" cy="457200"/>
          </a:xfrm>
          <a:prstGeom prst="rect">
            <a:avLst/>
          </a:prstGeom>
          <a:noFill/>
          <a:ln/>
        </p:spPr>
        <p:txBody>
          <a:bodyPr wrap="square" lIns="0" tIns="0" rIns="0" bIns="0" rtlCol="0" anchor="ctr"/>
          <a:lstStyle/>
          <a:p>
            <a:pPr marL="0" indent="0" algn="ctr">
              <a:buNone/>
            </a:pPr>
            <a:r>
              <a:rPr lang="en-US" sz="1600" b="1" dirty="0">
                <a:solidFill>
                  <a:srgbClr val="1B4332"/>
                </a:solidFill>
                <a:latin typeface="Calibri" pitchFamily="34" charset="0"/>
                <a:ea typeface="Calibri" pitchFamily="34" charset="-122"/>
                <a:cs typeface="Calibri" pitchFamily="34" charset="-120"/>
              </a:rPr>
              <a:t>Metal</a:t>
            </a:r>
            <a:endParaRPr lang="en-US" sz="1600" dirty="0"/>
          </a:p>
        </p:txBody>
      </p:sp>
      <p:sp>
        <p:nvSpPr>
          <p:cNvPr id="20" name="Shape 14"/>
          <p:cNvSpPr/>
          <p:nvPr/>
        </p:nvSpPr>
        <p:spPr>
          <a:xfrm>
            <a:off x="4389120" y="4114800"/>
            <a:ext cx="3429000" cy="1965960"/>
          </a:xfrm>
          <a:prstGeom prst="roundRect">
            <a:avLst>
              <a:gd name="adj" fmla="val 3721"/>
            </a:avLst>
          </a:prstGeom>
          <a:solidFill>
            <a:srgbClr val="FFFFFF"/>
          </a:solidFill>
          <a:ln/>
          <a:effectLst>
            <a:outerShdw blurRad="76200" dist="25400" dir="2700000" algn="bl" rotWithShape="0">
              <a:srgbClr val="000000">
                <a:alpha val="10000"/>
              </a:srgbClr>
            </a:outerShdw>
          </a:effectLst>
        </p:spPr>
      </p:sp>
      <p:sp>
        <p:nvSpPr>
          <p:cNvPr id="21" name="Shape 15"/>
          <p:cNvSpPr/>
          <p:nvPr/>
        </p:nvSpPr>
        <p:spPr>
          <a:xfrm>
            <a:off x="5692140" y="4389120"/>
            <a:ext cx="822960" cy="822960"/>
          </a:xfrm>
          <a:prstGeom prst="ellipse">
            <a:avLst/>
          </a:prstGeom>
          <a:solidFill>
            <a:srgbClr val="F5F3EE"/>
          </a:solidFill>
          <a:ln/>
        </p:spPr>
      </p:sp>
      <p:pic>
        <p:nvPicPr>
          <p:cNvPr id="22" name="Image 4" descr="preencoded.png"/>
          <p:cNvPicPr>
            <a:picLocks noChangeAspect="1"/>
          </p:cNvPicPr>
          <p:nvPr/>
        </p:nvPicPr>
        <p:blipFill>
          <a:blip r:embed="rId7"/>
          <a:stretch>
            <a:fillRect/>
          </a:stretch>
        </p:blipFill>
        <p:spPr>
          <a:xfrm>
            <a:off x="5856732" y="4553712"/>
            <a:ext cx="493776" cy="493776"/>
          </a:xfrm>
          <a:prstGeom prst="rect">
            <a:avLst/>
          </a:prstGeom>
        </p:spPr>
      </p:pic>
      <p:sp>
        <p:nvSpPr>
          <p:cNvPr id="23" name="Text 16"/>
          <p:cNvSpPr/>
          <p:nvPr/>
        </p:nvSpPr>
        <p:spPr>
          <a:xfrm>
            <a:off x="4389120" y="5349240"/>
            <a:ext cx="3429000" cy="457200"/>
          </a:xfrm>
          <a:prstGeom prst="rect">
            <a:avLst/>
          </a:prstGeom>
          <a:noFill/>
          <a:ln/>
        </p:spPr>
        <p:txBody>
          <a:bodyPr wrap="square" lIns="0" tIns="0" rIns="0" bIns="0" rtlCol="0" anchor="ctr"/>
          <a:lstStyle/>
          <a:p>
            <a:pPr marL="0" indent="0" algn="ctr">
              <a:buNone/>
            </a:pPr>
            <a:r>
              <a:rPr lang="en-US" sz="1600" b="1" dirty="0">
                <a:solidFill>
                  <a:srgbClr val="1B4332"/>
                </a:solidFill>
                <a:latin typeface="Calibri" pitchFamily="34" charset="0"/>
                <a:ea typeface="Calibri" pitchFamily="34" charset="-122"/>
                <a:cs typeface="Calibri" pitchFamily="34" charset="-120"/>
              </a:rPr>
              <a:t>Cardboard</a:t>
            </a:r>
            <a:endParaRPr lang="en-US" sz="1600" dirty="0"/>
          </a:p>
        </p:txBody>
      </p:sp>
      <p:sp>
        <p:nvSpPr>
          <p:cNvPr id="24" name="Shape 17"/>
          <p:cNvSpPr/>
          <p:nvPr/>
        </p:nvSpPr>
        <p:spPr>
          <a:xfrm>
            <a:off x="8138160" y="4114800"/>
            <a:ext cx="3429000" cy="1965960"/>
          </a:xfrm>
          <a:prstGeom prst="roundRect">
            <a:avLst>
              <a:gd name="adj" fmla="val 3721"/>
            </a:avLst>
          </a:prstGeom>
          <a:solidFill>
            <a:srgbClr val="FFFFFF"/>
          </a:solidFill>
          <a:ln/>
          <a:effectLst>
            <a:outerShdw blurRad="76200" dist="25400" dir="2700000" algn="bl" rotWithShape="0">
              <a:srgbClr val="000000">
                <a:alpha val="10000"/>
              </a:srgbClr>
            </a:outerShdw>
          </a:effectLst>
        </p:spPr>
      </p:sp>
      <p:sp>
        <p:nvSpPr>
          <p:cNvPr id="25" name="Shape 18"/>
          <p:cNvSpPr/>
          <p:nvPr/>
        </p:nvSpPr>
        <p:spPr>
          <a:xfrm>
            <a:off x="9441180" y="4389120"/>
            <a:ext cx="822960" cy="822960"/>
          </a:xfrm>
          <a:prstGeom prst="ellipse">
            <a:avLst/>
          </a:prstGeom>
          <a:solidFill>
            <a:srgbClr val="F5F3EE"/>
          </a:solidFill>
          <a:ln/>
        </p:spPr>
      </p:sp>
      <p:pic>
        <p:nvPicPr>
          <p:cNvPr id="26" name="Image 5" descr="preencoded.png"/>
          <p:cNvPicPr>
            <a:picLocks noChangeAspect="1"/>
          </p:cNvPicPr>
          <p:nvPr/>
        </p:nvPicPr>
        <p:blipFill>
          <a:blip r:embed="rId8"/>
          <a:stretch>
            <a:fillRect/>
          </a:stretch>
        </p:blipFill>
        <p:spPr>
          <a:xfrm>
            <a:off x="9605772" y="4553712"/>
            <a:ext cx="493776" cy="493776"/>
          </a:xfrm>
          <a:prstGeom prst="rect">
            <a:avLst/>
          </a:prstGeom>
        </p:spPr>
      </p:pic>
      <p:sp>
        <p:nvSpPr>
          <p:cNvPr id="27" name="Text 19"/>
          <p:cNvSpPr/>
          <p:nvPr/>
        </p:nvSpPr>
        <p:spPr>
          <a:xfrm>
            <a:off x="8138160" y="5349240"/>
            <a:ext cx="3429000" cy="457200"/>
          </a:xfrm>
          <a:prstGeom prst="rect">
            <a:avLst/>
          </a:prstGeom>
          <a:noFill/>
          <a:ln/>
        </p:spPr>
        <p:txBody>
          <a:bodyPr wrap="square" lIns="0" tIns="0" rIns="0" bIns="0" rtlCol="0" anchor="ctr"/>
          <a:lstStyle/>
          <a:p>
            <a:pPr marL="0" indent="0" algn="ctr">
              <a:buNone/>
            </a:pPr>
            <a:r>
              <a:rPr lang="en-US" sz="1600" b="1" dirty="0">
                <a:solidFill>
                  <a:srgbClr val="1B4332"/>
                </a:solidFill>
                <a:latin typeface="Calibri" pitchFamily="34" charset="0"/>
                <a:ea typeface="Calibri" pitchFamily="34" charset="-122"/>
                <a:cs typeface="Calibri" pitchFamily="34" charset="-120"/>
              </a:rPr>
              <a:t>Trash</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lIns="0" tIns="0" rIns="0" bIns="0" rtlCol="0" anchor="ctr"/>
          <a:lstStyle/>
          <a:p>
            <a:pPr marL="0" indent="0">
              <a:buNone/>
            </a:pPr>
            <a:r>
              <a:rPr lang="en-US" sz="3200" b="1" dirty="0">
                <a:solidFill>
                  <a:srgbClr val="1B4332"/>
                </a:solidFill>
                <a:latin typeface="Cambria" pitchFamily="34" charset="0"/>
                <a:ea typeface="Cambria" pitchFamily="34" charset="-122"/>
                <a:cs typeface="Cambria" pitchFamily="34" charset="-120"/>
              </a:rPr>
              <a:t>Dataset</a:t>
            </a:r>
            <a:endParaRPr lang="en-US" sz="3200" dirty="0"/>
          </a:p>
        </p:txBody>
      </p:sp>
      <p:sp>
        <p:nvSpPr>
          <p:cNvPr id="3" name="Shape 1"/>
          <p:cNvSpPr/>
          <p:nvPr/>
        </p:nvSpPr>
        <p:spPr>
          <a:xfrm>
            <a:off x="640080" y="1371600"/>
            <a:ext cx="5120640" cy="4754880"/>
          </a:xfrm>
          <a:prstGeom prst="roundRect">
            <a:avLst>
              <a:gd name="adj" fmla="val 1538"/>
            </a:avLst>
          </a:prstGeom>
          <a:solidFill>
            <a:srgbClr val="1B4332"/>
          </a:solidFill>
          <a:ln/>
        </p:spPr>
      </p:sp>
      <p:pic>
        <p:nvPicPr>
          <p:cNvPr id="4" name="Image 0" descr="preencoded.png"/>
          <p:cNvPicPr>
            <a:picLocks noChangeAspect="1"/>
          </p:cNvPicPr>
          <p:nvPr/>
        </p:nvPicPr>
        <p:blipFill>
          <a:blip r:embed="rId3"/>
          <a:stretch>
            <a:fillRect/>
          </a:stretch>
        </p:blipFill>
        <p:spPr>
          <a:xfrm>
            <a:off x="2788920" y="2834640"/>
            <a:ext cx="822960" cy="822960"/>
          </a:xfrm>
          <a:prstGeom prst="rect">
            <a:avLst/>
          </a:prstGeom>
        </p:spPr>
      </p:pic>
      <p:sp>
        <p:nvSpPr>
          <p:cNvPr id="5" name="Text 2"/>
          <p:cNvSpPr/>
          <p:nvPr/>
        </p:nvSpPr>
        <p:spPr>
          <a:xfrm>
            <a:off x="640080" y="3840480"/>
            <a:ext cx="512064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TrashNet</a:t>
            </a:r>
            <a:endParaRPr lang="en-US" sz="2200" dirty="0"/>
          </a:p>
        </p:txBody>
      </p:sp>
      <p:sp>
        <p:nvSpPr>
          <p:cNvPr id="6" name="Text 3"/>
          <p:cNvSpPr/>
          <p:nvPr/>
        </p:nvSpPr>
        <p:spPr>
          <a:xfrm>
            <a:off x="640080" y="4297680"/>
            <a:ext cx="5120640" cy="365760"/>
          </a:xfrm>
          <a:prstGeom prst="rect">
            <a:avLst/>
          </a:prstGeom>
          <a:noFill/>
          <a:ln/>
        </p:spPr>
        <p:txBody>
          <a:bodyPr wrap="square" lIns="0" tIns="0" rIns="0" bIns="0" rtlCol="0" anchor="ctr"/>
          <a:lstStyle/>
          <a:p>
            <a:pPr marL="0" indent="0" algn="ctr">
              <a:buNone/>
            </a:pPr>
            <a:r>
              <a:rPr lang="en-US" sz="1300" dirty="0">
                <a:solidFill>
                  <a:srgbClr val="84A98C"/>
                </a:solidFill>
                <a:latin typeface="Calibri" pitchFamily="34" charset="0"/>
                <a:ea typeface="Calibri" pitchFamily="34" charset="-122"/>
                <a:cs typeface="Calibri" pitchFamily="34" charset="-120"/>
              </a:rPr>
              <a:t>Kaggle Dataset</a:t>
            </a:r>
            <a:endParaRPr lang="en-US" sz="1300" dirty="0"/>
          </a:p>
        </p:txBody>
      </p:sp>
      <p:pic>
        <p:nvPicPr>
          <p:cNvPr id="7" name="Image 1" descr="preencoded.png"/>
          <p:cNvPicPr>
            <a:picLocks noChangeAspect="1"/>
          </p:cNvPicPr>
          <p:nvPr/>
        </p:nvPicPr>
        <p:blipFill>
          <a:blip r:embed="rId4"/>
          <a:stretch>
            <a:fillRect/>
          </a:stretch>
        </p:blipFill>
        <p:spPr>
          <a:xfrm>
            <a:off x="6035040" y="1554480"/>
            <a:ext cx="292608" cy="292608"/>
          </a:xfrm>
          <a:prstGeom prst="rect">
            <a:avLst/>
          </a:prstGeom>
        </p:spPr>
      </p:pic>
      <p:sp>
        <p:nvSpPr>
          <p:cNvPr id="8" name="Text 4"/>
          <p:cNvSpPr/>
          <p:nvPr/>
        </p:nvSpPr>
        <p:spPr>
          <a:xfrm>
            <a:off x="6492240" y="1499616"/>
            <a:ext cx="5029200" cy="822960"/>
          </a:xfrm>
          <a:prstGeom prst="rect">
            <a:avLst/>
          </a:prstGeom>
          <a:noFill/>
          <a:ln/>
        </p:spPr>
        <p:txBody>
          <a:bodyPr wrap="square" lIns="0" tIns="0" rIns="0" bIns="0" rtlCol="0" anchor="t"/>
          <a:lstStyle/>
          <a:p>
            <a:pPr marL="0" indent="0">
              <a:buNone/>
            </a:pPr>
            <a:r>
              <a:rPr lang="en-US" sz="1400" dirty="0">
                <a:solidFill>
                  <a:srgbClr val="1B2A25"/>
                </a:solidFill>
                <a:latin typeface="Calibri" pitchFamily="34" charset="0"/>
                <a:ea typeface="Calibri" pitchFamily="34" charset="-122"/>
                <a:cs typeface="Calibri" pitchFamily="34" charset="-120"/>
              </a:rPr>
              <a:t>Thousands of labeled waste images across 6 categories</a:t>
            </a:r>
            <a:endParaRPr lang="en-US" sz="1400" dirty="0"/>
          </a:p>
        </p:txBody>
      </p:sp>
      <p:pic>
        <p:nvPicPr>
          <p:cNvPr id="9" name="Image 2" descr="preencoded.png"/>
          <p:cNvPicPr>
            <a:picLocks noChangeAspect="1"/>
          </p:cNvPicPr>
          <p:nvPr/>
        </p:nvPicPr>
        <p:blipFill>
          <a:blip r:embed="rId4"/>
          <a:stretch>
            <a:fillRect/>
          </a:stretch>
        </p:blipFill>
        <p:spPr>
          <a:xfrm>
            <a:off x="6035040" y="2606040"/>
            <a:ext cx="292608" cy="292608"/>
          </a:xfrm>
          <a:prstGeom prst="rect">
            <a:avLst/>
          </a:prstGeom>
        </p:spPr>
      </p:pic>
      <p:sp>
        <p:nvSpPr>
          <p:cNvPr id="10" name="Text 5"/>
          <p:cNvSpPr/>
          <p:nvPr/>
        </p:nvSpPr>
        <p:spPr>
          <a:xfrm>
            <a:off x="6492240" y="2551176"/>
            <a:ext cx="5029200" cy="822960"/>
          </a:xfrm>
          <a:prstGeom prst="rect">
            <a:avLst/>
          </a:prstGeom>
          <a:noFill/>
          <a:ln/>
        </p:spPr>
        <p:txBody>
          <a:bodyPr wrap="square" lIns="0" tIns="0" rIns="0" bIns="0" rtlCol="0" anchor="t"/>
          <a:lstStyle/>
          <a:p>
            <a:pPr marL="0" indent="0">
              <a:buNone/>
            </a:pPr>
            <a:r>
              <a:rPr lang="en-US" sz="1400" dirty="0">
                <a:solidFill>
                  <a:srgbClr val="1B2A25"/>
                </a:solidFill>
                <a:latin typeface="Calibri" pitchFamily="34" charset="0"/>
                <a:ea typeface="Calibri" pitchFamily="34" charset="-122"/>
                <a:cs typeface="Calibri" pitchFamily="34" charset="-120"/>
              </a:rPr>
              <a:t>Images resized to 224 × 224 pixels for model input</a:t>
            </a:r>
            <a:endParaRPr lang="en-US" sz="1400" dirty="0"/>
          </a:p>
        </p:txBody>
      </p:sp>
      <p:pic>
        <p:nvPicPr>
          <p:cNvPr id="11" name="Image 3" descr="preencoded.png"/>
          <p:cNvPicPr>
            <a:picLocks noChangeAspect="1"/>
          </p:cNvPicPr>
          <p:nvPr/>
        </p:nvPicPr>
        <p:blipFill>
          <a:blip r:embed="rId4"/>
          <a:stretch>
            <a:fillRect/>
          </a:stretch>
        </p:blipFill>
        <p:spPr>
          <a:xfrm>
            <a:off x="6035040" y="3657600"/>
            <a:ext cx="292608" cy="292608"/>
          </a:xfrm>
          <a:prstGeom prst="rect">
            <a:avLst/>
          </a:prstGeom>
        </p:spPr>
      </p:pic>
      <p:sp>
        <p:nvSpPr>
          <p:cNvPr id="12" name="Text 6"/>
          <p:cNvSpPr/>
          <p:nvPr/>
        </p:nvSpPr>
        <p:spPr>
          <a:xfrm>
            <a:off x="6492240" y="3602736"/>
            <a:ext cx="5029200" cy="822960"/>
          </a:xfrm>
          <a:prstGeom prst="rect">
            <a:avLst/>
          </a:prstGeom>
          <a:noFill/>
          <a:ln/>
        </p:spPr>
        <p:txBody>
          <a:bodyPr wrap="square" lIns="0" tIns="0" rIns="0" bIns="0" rtlCol="0" anchor="t"/>
          <a:lstStyle/>
          <a:p>
            <a:pPr marL="0" indent="0">
              <a:buNone/>
            </a:pPr>
            <a:r>
              <a:rPr lang="en-US" sz="1400" dirty="0">
                <a:solidFill>
                  <a:srgbClr val="1B2A25"/>
                </a:solidFill>
                <a:latin typeface="Calibri" pitchFamily="34" charset="0"/>
                <a:ea typeface="Calibri" pitchFamily="34" charset="-122"/>
                <a:cs typeface="Calibri" pitchFamily="34" charset="-120"/>
              </a:rPr>
              <a:t>Split into training and validation sets (80/20)</a:t>
            </a:r>
            <a:endParaRPr lang="en-US" sz="1400" dirty="0"/>
          </a:p>
        </p:txBody>
      </p:sp>
      <p:pic>
        <p:nvPicPr>
          <p:cNvPr id="13" name="Image 4" descr="preencoded.png"/>
          <p:cNvPicPr>
            <a:picLocks noChangeAspect="1"/>
          </p:cNvPicPr>
          <p:nvPr/>
        </p:nvPicPr>
        <p:blipFill>
          <a:blip r:embed="rId4"/>
          <a:stretch>
            <a:fillRect/>
          </a:stretch>
        </p:blipFill>
        <p:spPr>
          <a:xfrm>
            <a:off x="6035040" y="4709160"/>
            <a:ext cx="292608" cy="292608"/>
          </a:xfrm>
          <a:prstGeom prst="rect">
            <a:avLst/>
          </a:prstGeom>
        </p:spPr>
      </p:pic>
      <p:sp>
        <p:nvSpPr>
          <p:cNvPr id="14" name="Text 7"/>
          <p:cNvSpPr/>
          <p:nvPr/>
        </p:nvSpPr>
        <p:spPr>
          <a:xfrm>
            <a:off x="6492240" y="4654296"/>
            <a:ext cx="5029200" cy="822960"/>
          </a:xfrm>
          <a:prstGeom prst="rect">
            <a:avLst/>
          </a:prstGeom>
          <a:noFill/>
          <a:ln/>
        </p:spPr>
        <p:txBody>
          <a:bodyPr wrap="square" lIns="0" tIns="0" rIns="0" bIns="0" rtlCol="0" anchor="t"/>
          <a:lstStyle/>
          <a:p>
            <a:pPr marL="0" indent="0">
              <a:buNone/>
            </a:pPr>
            <a:r>
              <a:rPr lang="en-US" sz="1400" dirty="0">
                <a:solidFill>
                  <a:srgbClr val="1B2A25"/>
                </a:solidFill>
                <a:latin typeface="Calibri" pitchFamily="34" charset="0"/>
                <a:ea typeface="Calibri" pitchFamily="34" charset="-122"/>
                <a:cs typeface="Calibri" pitchFamily="34" charset="-120"/>
              </a:rPr>
              <a:t>Publicly available and widely used as a benchmark for waste-sorting research</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lIns="0" tIns="0" rIns="0" bIns="0" rtlCol="0" anchor="ctr"/>
          <a:lstStyle/>
          <a:p>
            <a:pPr marL="0" indent="0">
              <a:buNone/>
            </a:pPr>
            <a:r>
              <a:rPr lang="en-US" sz="3200" b="1" dirty="0">
                <a:solidFill>
                  <a:srgbClr val="1B4332"/>
                </a:solidFill>
                <a:latin typeface="Cambria" pitchFamily="34" charset="0"/>
                <a:ea typeface="Cambria" pitchFamily="34" charset="-122"/>
                <a:cs typeface="Cambria" pitchFamily="34" charset="-120"/>
              </a:rPr>
              <a:t>Technologies Used</a:t>
            </a:r>
            <a:endParaRPr lang="en-US" sz="3200" dirty="0"/>
          </a:p>
        </p:txBody>
      </p:sp>
      <p:sp>
        <p:nvSpPr>
          <p:cNvPr id="3" name="Shape 1"/>
          <p:cNvSpPr/>
          <p:nvPr/>
        </p:nvSpPr>
        <p:spPr>
          <a:xfrm>
            <a:off x="640080" y="1737360"/>
            <a:ext cx="3429000" cy="1965960"/>
          </a:xfrm>
          <a:prstGeom prst="roundRect">
            <a:avLst>
              <a:gd name="adj" fmla="val 3721"/>
            </a:avLst>
          </a:prstGeom>
          <a:solidFill>
            <a:srgbClr val="FFFFFF"/>
          </a:solidFill>
          <a:ln/>
          <a:effectLst>
            <a:outerShdw blurRad="76200" dist="25400" dir="2700000" algn="bl" rotWithShape="0">
              <a:srgbClr val="000000">
                <a:alpha val="10000"/>
              </a:srgbClr>
            </a:outerShdw>
          </a:effectLst>
        </p:spPr>
      </p:sp>
      <p:sp>
        <p:nvSpPr>
          <p:cNvPr id="4" name="Shape 2"/>
          <p:cNvSpPr/>
          <p:nvPr/>
        </p:nvSpPr>
        <p:spPr>
          <a:xfrm>
            <a:off x="914400" y="2011680"/>
            <a:ext cx="594360" cy="594360"/>
          </a:xfrm>
          <a:prstGeom prst="ellipse">
            <a:avLst/>
          </a:prstGeom>
          <a:solidFill>
            <a:srgbClr val="F5F3EE"/>
          </a:solidFill>
          <a:ln/>
        </p:spPr>
      </p:sp>
      <p:pic>
        <p:nvPicPr>
          <p:cNvPr id="5" name="Image 0" descr="preencoded.png"/>
          <p:cNvPicPr>
            <a:picLocks noChangeAspect="1"/>
          </p:cNvPicPr>
          <p:nvPr/>
        </p:nvPicPr>
        <p:blipFill>
          <a:blip r:embed="rId3"/>
          <a:stretch>
            <a:fillRect/>
          </a:stretch>
        </p:blipFill>
        <p:spPr>
          <a:xfrm>
            <a:off x="1037844" y="2135124"/>
            <a:ext cx="347472" cy="347472"/>
          </a:xfrm>
          <a:prstGeom prst="rect">
            <a:avLst/>
          </a:prstGeom>
        </p:spPr>
      </p:pic>
      <p:sp>
        <p:nvSpPr>
          <p:cNvPr id="6" name="Text 3"/>
          <p:cNvSpPr/>
          <p:nvPr/>
        </p:nvSpPr>
        <p:spPr>
          <a:xfrm>
            <a:off x="1645920" y="2011680"/>
            <a:ext cx="2240280" cy="457200"/>
          </a:xfrm>
          <a:prstGeom prst="rect">
            <a:avLst/>
          </a:prstGeom>
          <a:noFill/>
          <a:ln/>
        </p:spPr>
        <p:txBody>
          <a:bodyPr wrap="square" lIns="0" tIns="0" rIns="0" bIns="0" rtlCol="0" anchor="ctr"/>
          <a:lstStyle/>
          <a:p>
            <a:pPr marL="0" indent="0">
              <a:buNone/>
            </a:pPr>
            <a:r>
              <a:rPr lang="en-US" sz="1500" b="1" dirty="0">
                <a:solidFill>
                  <a:srgbClr val="1B4332"/>
                </a:solidFill>
                <a:latin typeface="Calibri" pitchFamily="34" charset="0"/>
                <a:ea typeface="Calibri" pitchFamily="34" charset="-122"/>
                <a:cs typeface="Calibri" pitchFamily="34" charset="-120"/>
              </a:rPr>
              <a:t>Python</a:t>
            </a:r>
            <a:endParaRPr lang="en-US" sz="1500" dirty="0"/>
          </a:p>
        </p:txBody>
      </p:sp>
      <p:sp>
        <p:nvSpPr>
          <p:cNvPr id="7" name="Text 4"/>
          <p:cNvSpPr/>
          <p:nvPr/>
        </p:nvSpPr>
        <p:spPr>
          <a:xfrm>
            <a:off x="914400" y="2788920"/>
            <a:ext cx="2880360" cy="731520"/>
          </a:xfrm>
          <a:prstGeom prst="rect">
            <a:avLst/>
          </a:prstGeom>
          <a:noFill/>
          <a:ln/>
        </p:spPr>
        <p:txBody>
          <a:bodyPr wrap="square" lIns="0" tIns="0" rIns="0" bIns="0" rtlCol="0" anchor="t"/>
          <a:lstStyle/>
          <a:p>
            <a:pPr marL="0" indent="0">
              <a:buNone/>
            </a:pPr>
            <a:r>
              <a:rPr lang="en-US" sz="1250" dirty="0">
                <a:solidFill>
                  <a:srgbClr val="6B7A72"/>
                </a:solidFill>
                <a:latin typeface="Calibri" pitchFamily="34" charset="0"/>
                <a:ea typeface="Calibri" pitchFamily="34" charset="-122"/>
                <a:cs typeface="Calibri" pitchFamily="34" charset="-120"/>
              </a:rPr>
              <a:t>Core programming language</a:t>
            </a:r>
            <a:endParaRPr lang="en-US" sz="1250" dirty="0"/>
          </a:p>
        </p:txBody>
      </p:sp>
      <p:sp>
        <p:nvSpPr>
          <p:cNvPr id="8" name="Shape 5"/>
          <p:cNvSpPr/>
          <p:nvPr/>
        </p:nvSpPr>
        <p:spPr>
          <a:xfrm>
            <a:off x="4389120" y="1737360"/>
            <a:ext cx="3429000" cy="1965960"/>
          </a:xfrm>
          <a:prstGeom prst="roundRect">
            <a:avLst>
              <a:gd name="adj" fmla="val 3721"/>
            </a:avLst>
          </a:prstGeom>
          <a:solidFill>
            <a:srgbClr val="FFFFFF"/>
          </a:solidFill>
          <a:ln/>
          <a:effectLst>
            <a:outerShdw blurRad="76200" dist="25400" dir="2700000" algn="bl" rotWithShape="0">
              <a:srgbClr val="000000">
                <a:alpha val="10000"/>
              </a:srgbClr>
            </a:outerShdw>
          </a:effectLst>
        </p:spPr>
      </p:sp>
      <p:sp>
        <p:nvSpPr>
          <p:cNvPr id="9" name="Shape 6"/>
          <p:cNvSpPr/>
          <p:nvPr/>
        </p:nvSpPr>
        <p:spPr>
          <a:xfrm>
            <a:off x="4663440" y="2011680"/>
            <a:ext cx="594360" cy="594360"/>
          </a:xfrm>
          <a:prstGeom prst="ellipse">
            <a:avLst/>
          </a:prstGeom>
          <a:solidFill>
            <a:srgbClr val="F5F3EE"/>
          </a:solidFill>
          <a:ln/>
        </p:spPr>
      </p:sp>
      <p:pic>
        <p:nvPicPr>
          <p:cNvPr id="10" name="Image 1" descr="preencoded.png"/>
          <p:cNvPicPr>
            <a:picLocks noChangeAspect="1"/>
          </p:cNvPicPr>
          <p:nvPr/>
        </p:nvPicPr>
        <p:blipFill>
          <a:blip r:embed="rId4"/>
          <a:stretch>
            <a:fillRect/>
          </a:stretch>
        </p:blipFill>
        <p:spPr>
          <a:xfrm>
            <a:off x="4786884" y="2135124"/>
            <a:ext cx="347472" cy="347472"/>
          </a:xfrm>
          <a:prstGeom prst="rect">
            <a:avLst/>
          </a:prstGeom>
        </p:spPr>
      </p:pic>
      <p:sp>
        <p:nvSpPr>
          <p:cNvPr id="11" name="Text 7"/>
          <p:cNvSpPr/>
          <p:nvPr/>
        </p:nvSpPr>
        <p:spPr>
          <a:xfrm>
            <a:off x="5394960" y="2011680"/>
            <a:ext cx="2240280" cy="457200"/>
          </a:xfrm>
          <a:prstGeom prst="rect">
            <a:avLst/>
          </a:prstGeom>
          <a:noFill/>
          <a:ln/>
        </p:spPr>
        <p:txBody>
          <a:bodyPr wrap="square" lIns="0" tIns="0" rIns="0" bIns="0" rtlCol="0" anchor="ctr"/>
          <a:lstStyle/>
          <a:p>
            <a:pPr marL="0" indent="0">
              <a:buNone/>
            </a:pPr>
            <a:r>
              <a:rPr lang="en-US" sz="1500" b="1" dirty="0">
                <a:solidFill>
                  <a:srgbClr val="1B4332"/>
                </a:solidFill>
                <a:latin typeface="Calibri" pitchFamily="34" charset="0"/>
                <a:ea typeface="Calibri" pitchFamily="34" charset="-122"/>
                <a:cs typeface="Calibri" pitchFamily="34" charset="-120"/>
              </a:rPr>
              <a:t>TensorFlow / Keras</a:t>
            </a:r>
            <a:endParaRPr lang="en-US" sz="1500" dirty="0"/>
          </a:p>
        </p:txBody>
      </p:sp>
      <p:sp>
        <p:nvSpPr>
          <p:cNvPr id="12" name="Text 8"/>
          <p:cNvSpPr/>
          <p:nvPr/>
        </p:nvSpPr>
        <p:spPr>
          <a:xfrm>
            <a:off x="4663440" y="2788920"/>
            <a:ext cx="2880360" cy="731520"/>
          </a:xfrm>
          <a:prstGeom prst="rect">
            <a:avLst/>
          </a:prstGeom>
          <a:noFill/>
          <a:ln/>
        </p:spPr>
        <p:txBody>
          <a:bodyPr wrap="square" lIns="0" tIns="0" rIns="0" bIns="0" rtlCol="0" anchor="t"/>
          <a:lstStyle/>
          <a:p>
            <a:pPr marL="0" indent="0">
              <a:buNone/>
            </a:pPr>
            <a:r>
              <a:rPr lang="en-US" sz="1250" dirty="0">
                <a:solidFill>
                  <a:srgbClr val="6B7A72"/>
                </a:solidFill>
                <a:latin typeface="Calibri" pitchFamily="34" charset="0"/>
                <a:ea typeface="Calibri" pitchFamily="34" charset="-122"/>
                <a:cs typeface="Calibri" pitchFamily="34" charset="-120"/>
              </a:rPr>
              <a:t>Deep learning framework</a:t>
            </a:r>
            <a:endParaRPr lang="en-US" sz="1250" dirty="0"/>
          </a:p>
        </p:txBody>
      </p:sp>
      <p:sp>
        <p:nvSpPr>
          <p:cNvPr id="13" name="Shape 9"/>
          <p:cNvSpPr/>
          <p:nvPr/>
        </p:nvSpPr>
        <p:spPr>
          <a:xfrm>
            <a:off x="8138160" y="1737360"/>
            <a:ext cx="3429000" cy="1965960"/>
          </a:xfrm>
          <a:prstGeom prst="roundRect">
            <a:avLst>
              <a:gd name="adj" fmla="val 3721"/>
            </a:avLst>
          </a:prstGeom>
          <a:solidFill>
            <a:srgbClr val="FFFFFF"/>
          </a:solidFill>
          <a:ln/>
          <a:effectLst>
            <a:outerShdw blurRad="76200" dist="25400" dir="2700000" algn="bl" rotWithShape="0">
              <a:srgbClr val="000000">
                <a:alpha val="10000"/>
              </a:srgbClr>
            </a:outerShdw>
          </a:effectLst>
        </p:spPr>
      </p:sp>
      <p:sp>
        <p:nvSpPr>
          <p:cNvPr id="14" name="Shape 10"/>
          <p:cNvSpPr/>
          <p:nvPr/>
        </p:nvSpPr>
        <p:spPr>
          <a:xfrm>
            <a:off x="8412480" y="2011680"/>
            <a:ext cx="594360" cy="594360"/>
          </a:xfrm>
          <a:prstGeom prst="ellipse">
            <a:avLst/>
          </a:prstGeom>
          <a:solidFill>
            <a:srgbClr val="F5F3EE"/>
          </a:solidFill>
          <a:ln/>
        </p:spPr>
      </p:sp>
      <p:pic>
        <p:nvPicPr>
          <p:cNvPr id="15" name="Image 2" descr="preencoded.png"/>
          <p:cNvPicPr>
            <a:picLocks noChangeAspect="1"/>
          </p:cNvPicPr>
          <p:nvPr/>
        </p:nvPicPr>
        <p:blipFill>
          <a:blip r:embed="rId5"/>
          <a:stretch>
            <a:fillRect/>
          </a:stretch>
        </p:blipFill>
        <p:spPr>
          <a:xfrm>
            <a:off x="8535924" y="2135124"/>
            <a:ext cx="347472" cy="347472"/>
          </a:xfrm>
          <a:prstGeom prst="rect">
            <a:avLst/>
          </a:prstGeom>
        </p:spPr>
      </p:pic>
      <p:sp>
        <p:nvSpPr>
          <p:cNvPr id="16" name="Text 11"/>
          <p:cNvSpPr/>
          <p:nvPr/>
        </p:nvSpPr>
        <p:spPr>
          <a:xfrm>
            <a:off x="9144000" y="2011680"/>
            <a:ext cx="2240280" cy="457200"/>
          </a:xfrm>
          <a:prstGeom prst="rect">
            <a:avLst/>
          </a:prstGeom>
          <a:noFill/>
          <a:ln/>
        </p:spPr>
        <p:txBody>
          <a:bodyPr wrap="square" lIns="0" tIns="0" rIns="0" bIns="0" rtlCol="0" anchor="ctr"/>
          <a:lstStyle/>
          <a:p>
            <a:pPr marL="0" indent="0">
              <a:buNone/>
            </a:pPr>
            <a:r>
              <a:rPr lang="en-US" sz="1500" b="1" dirty="0">
                <a:solidFill>
                  <a:srgbClr val="1B4332"/>
                </a:solidFill>
                <a:latin typeface="Calibri" pitchFamily="34" charset="0"/>
                <a:ea typeface="Calibri" pitchFamily="34" charset="-122"/>
                <a:cs typeface="Calibri" pitchFamily="34" charset="-120"/>
              </a:rPr>
              <a:t>OpenCV</a:t>
            </a:r>
            <a:endParaRPr lang="en-US" sz="1500" dirty="0"/>
          </a:p>
        </p:txBody>
      </p:sp>
      <p:sp>
        <p:nvSpPr>
          <p:cNvPr id="17" name="Text 12"/>
          <p:cNvSpPr/>
          <p:nvPr/>
        </p:nvSpPr>
        <p:spPr>
          <a:xfrm>
            <a:off x="8412480" y="2788920"/>
            <a:ext cx="2880360" cy="731520"/>
          </a:xfrm>
          <a:prstGeom prst="rect">
            <a:avLst/>
          </a:prstGeom>
          <a:noFill/>
          <a:ln/>
        </p:spPr>
        <p:txBody>
          <a:bodyPr wrap="square" lIns="0" tIns="0" rIns="0" bIns="0" rtlCol="0" anchor="t"/>
          <a:lstStyle/>
          <a:p>
            <a:pPr marL="0" indent="0">
              <a:buNone/>
            </a:pPr>
            <a:r>
              <a:rPr lang="en-US" sz="1250" dirty="0">
                <a:solidFill>
                  <a:srgbClr val="6B7A72"/>
                </a:solidFill>
                <a:latin typeface="Calibri" pitchFamily="34" charset="0"/>
                <a:ea typeface="Calibri" pitchFamily="34" charset="-122"/>
                <a:cs typeface="Calibri" pitchFamily="34" charset="-120"/>
              </a:rPr>
              <a:t>Image processing</a:t>
            </a:r>
            <a:endParaRPr lang="en-US" sz="1250" dirty="0"/>
          </a:p>
        </p:txBody>
      </p:sp>
      <p:sp>
        <p:nvSpPr>
          <p:cNvPr id="18" name="Shape 13"/>
          <p:cNvSpPr/>
          <p:nvPr/>
        </p:nvSpPr>
        <p:spPr>
          <a:xfrm>
            <a:off x="640080" y="4023360"/>
            <a:ext cx="3429000" cy="1965960"/>
          </a:xfrm>
          <a:prstGeom prst="roundRect">
            <a:avLst>
              <a:gd name="adj" fmla="val 3721"/>
            </a:avLst>
          </a:prstGeom>
          <a:solidFill>
            <a:srgbClr val="FFFFFF"/>
          </a:solidFill>
          <a:ln/>
          <a:effectLst>
            <a:outerShdw blurRad="76200" dist="25400" dir="2700000" algn="bl" rotWithShape="0">
              <a:srgbClr val="000000">
                <a:alpha val="10000"/>
              </a:srgbClr>
            </a:outerShdw>
          </a:effectLst>
        </p:spPr>
      </p:sp>
      <p:sp>
        <p:nvSpPr>
          <p:cNvPr id="19" name="Shape 14"/>
          <p:cNvSpPr/>
          <p:nvPr/>
        </p:nvSpPr>
        <p:spPr>
          <a:xfrm>
            <a:off x="914400" y="4297680"/>
            <a:ext cx="594360" cy="594360"/>
          </a:xfrm>
          <a:prstGeom prst="ellipse">
            <a:avLst/>
          </a:prstGeom>
          <a:solidFill>
            <a:srgbClr val="F5F3EE"/>
          </a:solidFill>
          <a:ln/>
        </p:spPr>
      </p:sp>
      <p:pic>
        <p:nvPicPr>
          <p:cNvPr id="20" name="Image 3" descr="preencoded.png"/>
          <p:cNvPicPr>
            <a:picLocks noChangeAspect="1"/>
          </p:cNvPicPr>
          <p:nvPr/>
        </p:nvPicPr>
        <p:blipFill>
          <a:blip r:embed="rId6"/>
          <a:stretch>
            <a:fillRect/>
          </a:stretch>
        </p:blipFill>
        <p:spPr>
          <a:xfrm>
            <a:off x="1037844" y="4421124"/>
            <a:ext cx="347472" cy="347472"/>
          </a:xfrm>
          <a:prstGeom prst="rect">
            <a:avLst/>
          </a:prstGeom>
        </p:spPr>
      </p:pic>
      <p:sp>
        <p:nvSpPr>
          <p:cNvPr id="21" name="Text 15"/>
          <p:cNvSpPr/>
          <p:nvPr/>
        </p:nvSpPr>
        <p:spPr>
          <a:xfrm>
            <a:off x="1645920" y="4297680"/>
            <a:ext cx="2240280" cy="457200"/>
          </a:xfrm>
          <a:prstGeom prst="rect">
            <a:avLst/>
          </a:prstGeom>
          <a:noFill/>
          <a:ln/>
        </p:spPr>
        <p:txBody>
          <a:bodyPr wrap="square" lIns="0" tIns="0" rIns="0" bIns="0" rtlCol="0" anchor="ctr"/>
          <a:lstStyle/>
          <a:p>
            <a:pPr marL="0" indent="0">
              <a:buNone/>
            </a:pPr>
            <a:r>
              <a:rPr lang="en-US" sz="1500" b="1" dirty="0">
                <a:solidFill>
                  <a:srgbClr val="1B4332"/>
                </a:solidFill>
                <a:latin typeface="Calibri" pitchFamily="34" charset="0"/>
                <a:ea typeface="Calibri" pitchFamily="34" charset="-122"/>
                <a:cs typeface="Calibri" pitchFamily="34" charset="-120"/>
              </a:rPr>
              <a:t>NumPy &amp; Matplotlib</a:t>
            </a:r>
            <a:endParaRPr lang="en-US" sz="1500" dirty="0"/>
          </a:p>
        </p:txBody>
      </p:sp>
      <p:sp>
        <p:nvSpPr>
          <p:cNvPr id="22" name="Text 16"/>
          <p:cNvSpPr/>
          <p:nvPr/>
        </p:nvSpPr>
        <p:spPr>
          <a:xfrm>
            <a:off x="914400" y="5074920"/>
            <a:ext cx="2880360" cy="731520"/>
          </a:xfrm>
          <a:prstGeom prst="rect">
            <a:avLst/>
          </a:prstGeom>
          <a:noFill/>
          <a:ln/>
        </p:spPr>
        <p:txBody>
          <a:bodyPr wrap="square" lIns="0" tIns="0" rIns="0" bIns="0" rtlCol="0" anchor="t"/>
          <a:lstStyle/>
          <a:p>
            <a:pPr marL="0" indent="0">
              <a:buNone/>
            </a:pPr>
            <a:r>
              <a:rPr lang="en-US" sz="1250" dirty="0">
                <a:solidFill>
                  <a:srgbClr val="6B7A72"/>
                </a:solidFill>
                <a:latin typeface="Calibri" pitchFamily="34" charset="0"/>
                <a:ea typeface="Calibri" pitchFamily="34" charset="-122"/>
                <a:cs typeface="Calibri" pitchFamily="34" charset="-120"/>
              </a:rPr>
              <a:t>Data handling &amp; visualization</a:t>
            </a:r>
            <a:endParaRPr lang="en-US" sz="1250" dirty="0"/>
          </a:p>
        </p:txBody>
      </p:sp>
      <p:sp>
        <p:nvSpPr>
          <p:cNvPr id="23" name="Shape 17"/>
          <p:cNvSpPr/>
          <p:nvPr/>
        </p:nvSpPr>
        <p:spPr>
          <a:xfrm>
            <a:off x="4389120" y="4023360"/>
            <a:ext cx="3429000" cy="1965960"/>
          </a:xfrm>
          <a:prstGeom prst="roundRect">
            <a:avLst>
              <a:gd name="adj" fmla="val 3721"/>
            </a:avLst>
          </a:prstGeom>
          <a:solidFill>
            <a:srgbClr val="FFFFFF"/>
          </a:solidFill>
          <a:ln/>
          <a:effectLst>
            <a:outerShdw blurRad="76200" dist="25400" dir="2700000" algn="bl" rotWithShape="0">
              <a:srgbClr val="000000">
                <a:alpha val="10000"/>
              </a:srgbClr>
            </a:outerShdw>
          </a:effectLst>
        </p:spPr>
      </p:sp>
      <p:sp>
        <p:nvSpPr>
          <p:cNvPr id="24" name="Shape 18"/>
          <p:cNvSpPr/>
          <p:nvPr/>
        </p:nvSpPr>
        <p:spPr>
          <a:xfrm>
            <a:off x="4663440" y="4297680"/>
            <a:ext cx="594360" cy="594360"/>
          </a:xfrm>
          <a:prstGeom prst="ellipse">
            <a:avLst/>
          </a:prstGeom>
          <a:solidFill>
            <a:srgbClr val="F5F3EE"/>
          </a:solidFill>
          <a:ln/>
        </p:spPr>
      </p:sp>
      <p:pic>
        <p:nvPicPr>
          <p:cNvPr id="25" name="Image 4" descr="preencoded.png"/>
          <p:cNvPicPr>
            <a:picLocks noChangeAspect="1"/>
          </p:cNvPicPr>
          <p:nvPr/>
        </p:nvPicPr>
        <p:blipFill>
          <a:blip r:embed="rId7"/>
          <a:stretch>
            <a:fillRect/>
          </a:stretch>
        </p:blipFill>
        <p:spPr>
          <a:xfrm>
            <a:off x="4786884" y="4421124"/>
            <a:ext cx="347472" cy="347472"/>
          </a:xfrm>
          <a:prstGeom prst="rect">
            <a:avLst/>
          </a:prstGeom>
        </p:spPr>
      </p:pic>
      <p:sp>
        <p:nvSpPr>
          <p:cNvPr id="26" name="Text 19"/>
          <p:cNvSpPr/>
          <p:nvPr/>
        </p:nvSpPr>
        <p:spPr>
          <a:xfrm>
            <a:off x="5394960" y="4297680"/>
            <a:ext cx="2240280" cy="457200"/>
          </a:xfrm>
          <a:prstGeom prst="rect">
            <a:avLst/>
          </a:prstGeom>
          <a:noFill/>
          <a:ln/>
        </p:spPr>
        <p:txBody>
          <a:bodyPr wrap="square" lIns="0" tIns="0" rIns="0" bIns="0" rtlCol="0" anchor="ctr"/>
          <a:lstStyle/>
          <a:p>
            <a:pPr marL="0" indent="0">
              <a:buNone/>
            </a:pPr>
            <a:r>
              <a:rPr lang="en-US" sz="1500" b="1" dirty="0">
                <a:solidFill>
                  <a:srgbClr val="1B4332"/>
                </a:solidFill>
                <a:latin typeface="Calibri" pitchFamily="34" charset="0"/>
                <a:ea typeface="Calibri" pitchFamily="34" charset="-122"/>
                <a:cs typeface="Calibri" pitchFamily="34" charset="-120"/>
              </a:rPr>
              <a:t>Jupyter / Colab</a:t>
            </a:r>
            <a:endParaRPr lang="en-US" sz="1500" dirty="0"/>
          </a:p>
        </p:txBody>
      </p:sp>
      <p:sp>
        <p:nvSpPr>
          <p:cNvPr id="27" name="Text 20"/>
          <p:cNvSpPr/>
          <p:nvPr/>
        </p:nvSpPr>
        <p:spPr>
          <a:xfrm>
            <a:off x="4663440" y="5074920"/>
            <a:ext cx="2880360" cy="731520"/>
          </a:xfrm>
          <a:prstGeom prst="rect">
            <a:avLst/>
          </a:prstGeom>
          <a:noFill/>
          <a:ln/>
        </p:spPr>
        <p:txBody>
          <a:bodyPr wrap="square" lIns="0" tIns="0" rIns="0" bIns="0" rtlCol="0" anchor="t"/>
          <a:lstStyle/>
          <a:p>
            <a:pPr marL="0" indent="0">
              <a:buNone/>
            </a:pPr>
            <a:r>
              <a:rPr lang="en-US" sz="1250" dirty="0">
                <a:solidFill>
                  <a:srgbClr val="6B7A72"/>
                </a:solidFill>
                <a:latin typeface="Calibri" pitchFamily="34" charset="0"/>
                <a:ea typeface="Calibri" pitchFamily="34" charset="-122"/>
                <a:cs typeface="Calibri" pitchFamily="34" charset="-120"/>
              </a:rPr>
              <a:t>Experimentation environment</a:t>
            </a:r>
            <a:endParaRPr lang="en-US" sz="1250" dirty="0"/>
          </a:p>
        </p:txBody>
      </p:sp>
      <p:sp>
        <p:nvSpPr>
          <p:cNvPr id="28" name="Shape 21"/>
          <p:cNvSpPr/>
          <p:nvPr/>
        </p:nvSpPr>
        <p:spPr>
          <a:xfrm>
            <a:off x="8138160" y="4023360"/>
            <a:ext cx="3429000" cy="1965960"/>
          </a:xfrm>
          <a:prstGeom prst="roundRect">
            <a:avLst>
              <a:gd name="adj" fmla="val 3721"/>
            </a:avLst>
          </a:prstGeom>
          <a:solidFill>
            <a:srgbClr val="FFFFFF"/>
          </a:solidFill>
          <a:ln/>
          <a:effectLst>
            <a:outerShdw blurRad="76200" dist="25400" dir="2700000" algn="bl" rotWithShape="0">
              <a:srgbClr val="000000">
                <a:alpha val="10000"/>
              </a:srgbClr>
            </a:outerShdw>
          </a:effectLst>
        </p:spPr>
      </p:sp>
      <p:sp>
        <p:nvSpPr>
          <p:cNvPr id="29" name="Shape 22"/>
          <p:cNvSpPr/>
          <p:nvPr/>
        </p:nvSpPr>
        <p:spPr>
          <a:xfrm>
            <a:off x="8412480" y="4297680"/>
            <a:ext cx="594360" cy="594360"/>
          </a:xfrm>
          <a:prstGeom prst="ellipse">
            <a:avLst/>
          </a:prstGeom>
          <a:solidFill>
            <a:srgbClr val="F5F3EE"/>
          </a:solidFill>
          <a:ln/>
        </p:spPr>
      </p:sp>
      <p:pic>
        <p:nvPicPr>
          <p:cNvPr id="30" name="Image 5" descr="preencoded.png"/>
          <p:cNvPicPr>
            <a:picLocks noChangeAspect="1"/>
          </p:cNvPicPr>
          <p:nvPr/>
        </p:nvPicPr>
        <p:blipFill>
          <a:blip r:embed="rId8"/>
          <a:stretch>
            <a:fillRect/>
          </a:stretch>
        </p:blipFill>
        <p:spPr>
          <a:xfrm>
            <a:off x="8535924" y="4421124"/>
            <a:ext cx="347472" cy="347472"/>
          </a:xfrm>
          <a:prstGeom prst="rect">
            <a:avLst/>
          </a:prstGeom>
        </p:spPr>
      </p:pic>
      <p:sp>
        <p:nvSpPr>
          <p:cNvPr id="31" name="Text 23"/>
          <p:cNvSpPr/>
          <p:nvPr/>
        </p:nvSpPr>
        <p:spPr>
          <a:xfrm>
            <a:off x="9144000" y="4297680"/>
            <a:ext cx="2240280" cy="457200"/>
          </a:xfrm>
          <a:prstGeom prst="rect">
            <a:avLst/>
          </a:prstGeom>
          <a:noFill/>
          <a:ln/>
        </p:spPr>
        <p:txBody>
          <a:bodyPr wrap="square" lIns="0" tIns="0" rIns="0" bIns="0" rtlCol="0" anchor="ctr"/>
          <a:lstStyle/>
          <a:p>
            <a:pPr marL="0" indent="0">
              <a:buNone/>
            </a:pPr>
            <a:r>
              <a:rPr lang="en-US" sz="1500" b="1" dirty="0">
                <a:solidFill>
                  <a:srgbClr val="1B4332"/>
                </a:solidFill>
                <a:latin typeface="Calibri" pitchFamily="34" charset="0"/>
                <a:ea typeface="Calibri" pitchFamily="34" charset="-122"/>
                <a:cs typeface="Calibri" pitchFamily="34" charset="-120"/>
              </a:rPr>
              <a:t>Streamlit</a:t>
            </a:r>
            <a:endParaRPr lang="en-US" sz="1500" dirty="0"/>
          </a:p>
        </p:txBody>
      </p:sp>
      <p:sp>
        <p:nvSpPr>
          <p:cNvPr id="32" name="Text 24"/>
          <p:cNvSpPr/>
          <p:nvPr/>
        </p:nvSpPr>
        <p:spPr>
          <a:xfrm>
            <a:off x="8412480" y="5074920"/>
            <a:ext cx="2880360" cy="731520"/>
          </a:xfrm>
          <a:prstGeom prst="rect">
            <a:avLst/>
          </a:prstGeom>
          <a:noFill/>
          <a:ln/>
        </p:spPr>
        <p:txBody>
          <a:bodyPr wrap="square" lIns="0" tIns="0" rIns="0" bIns="0" rtlCol="0" anchor="t"/>
          <a:lstStyle/>
          <a:p>
            <a:pPr marL="0" indent="0">
              <a:buNone/>
            </a:pPr>
            <a:r>
              <a:rPr lang="en-US" sz="1250" dirty="0">
                <a:solidFill>
                  <a:srgbClr val="6B7A72"/>
                </a:solidFill>
                <a:latin typeface="Calibri" pitchFamily="34" charset="0"/>
                <a:ea typeface="Calibri" pitchFamily="34" charset="-122"/>
                <a:cs typeface="Calibri" pitchFamily="34" charset="-120"/>
              </a:rPr>
              <a:t>Interactive web app</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4332"/>
        </a:solidFill>
        <a:effectLst/>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Deep Learning Model</a:t>
            </a:r>
            <a:endParaRPr lang="en-US" sz="3200" dirty="0"/>
          </a:p>
        </p:txBody>
      </p:sp>
      <p:sp>
        <p:nvSpPr>
          <p:cNvPr id="3" name="Text 1"/>
          <p:cNvSpPr/>
          <p:nvPr/>
        </p:nvSpPr>
        <p:spPr>
          <a:xfrm>
            <a:off x="640080" y="1051560"/>
            <a:ext cx="9144000" cy="365760"/>
          </a:xfrm>
          <a:prstGeom prst="rect">
            <a:avLst/>
          </a:prstGeom>
          <a:noFill/>
          <a:ln/>
        </p:spPr>
        <p:txBody>
          <a:bodyPr wrap="square" lIns="0" tIns="0" rIns="0" bIns="0" rtlCol="0" anchor="ctr"/>
          <a:lstStyle/>
          <a:p>
            <a:pPr marL="0" indent="0">
              <a:buNone/>
            </a:pPr>
            <a:r>
              <a:rPr lang="en-US" sz="1400" dirty="0">
                <a:solidFill>
                  <a:srgbClr val="84A98C"/>
                </a:solidFill>
                <a:latin typeface="Calibri" pitchFamily="34" charset="0"/>
                <a:ea typeface="Calibri" pitchFamily="34" charset="-122"/>
                <a:cs typeface="Calibri" pitchFamily="34" charset="-120"/>
              </a:rPr>
              <a:t>Transfer learning with MobileNetV2 for high accuracy and efficiency</a:t>
            </a:r>
            <a:endParaRPr lang="en-US" sz="1400" dirty="0"/>
          </a:p>
        </p:txBody>
      </p:sp>
      <p:sp>
        <p:nvSpPr>
          <p:cNvPr id="4" name="Shape 2"/>
          <p:cNvSpPr/>
          <p:nvPr/>
        </p:nvSpPr>
        <p:spPr>
          <a:xfrm>
            <a:off x="653796" y="2377440"/>
            <a:ext cx="1920240" cy="1463040"/>
          </a:xfrm>
          <a:prstGeom prst="roundRect">
            <a:avLst>
              <a:gd name="adj" fmla="val 5000"/>
            </a:avLst>
          </a:prstGeom>
          <a:solidFill>
            <a:srgbClr val="52796F"/>
          </a:solidFill>
          <a:ln/>
        </p:spPr>
      </p:sp>
      <p:sp>
        <p:nvSpPr>
          <p:cNvPr id="5" name="Text 3"/>
          <p:cNvSpPr/>
          <p:nvPr/>
        </p:nvSpPr>
        <p:spPr>
          <a:xfrm>
            <a:off x="745236" y="2542032"/>
            <a:ext cx="1737360" cy="5943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Input Image</a:t>
            </a:r>
            <a:endParaRPr lang="en-US" sz="1250" dirty="0"/>
          </a:p>
        </p:txBody>
      </p:sp>
      <p:sp>
        <p:nvSpPr>
          <p:cNvPr id="6" name="Text 4"/>
          <p:cNvSpPr/>
          <p:nvPr/>
        </p:nvSpPr>
        <p:spPr>
          <a:xfrm>
            <a:off x="745236" y="3154680"/>
            <a:ext cx="1737360" cy="594360"/>
          </a:xfrm>
          <a:prstGeom prst="rect">
            <a:avLst/>
          </a:prstGeom>
          <a:noFill/>
          <a:ln/>
        </p:spPr>
        <p:txBody>
          <a:bodyPr wrap="square" lIns="0" tIns="0" rIns="0" bIns="0" rtlCol="0" anchor="t"/>
          <a:lstStyle/>
          <a:p>
            <a:pPr marL="0" indent="0" algn="ctr">
              <a:buNone/>
            </a:pPr>
            <a:r>
              <a:rPr lang="en-US" sz="1000" dirty="0">
                <a:solidFill>
                  <a:srgbClr val="84A98C"/>
                </a:solidFill>
                <a:latin typeface="Calibri" pitchFamily="34" charset="0"/>
                <a:ea typeface="Calibri" pitchFamily="34" charset="-122"/>
                <a:cs typeface="Calibri" pitchFamily="34" charset="-120"/>
              </a:rPr>
              <a:t>224×224×3</a:t>
            </a:r>
            <a:endParaRPr lang="en-US" sz="1000" dirty="0"/>
          </a:p>
        </p:txBody>
      </p:sp>
      <p:sp>
        <p:nvSpPr>
          <p:cNvPr id="7" name="Shape 5"/>
          <p:cNvSpPr/>
          <p:nvPr/>
        </p:nvSpPr>
        <p:spPr>
          <a:xfrm>
            <a:off x="2574036" y="3108960"/>
            <a:ext cx="320040" cy="0"/>
          </a:xfrm>
          <a:prstGeom prst="line">
            <a:avLst/>
          </a:prstGeom>
          <a:noFill/>
          <a:ln w="25400">
            <a:solidFill>
              <a:srgbClr val="84A98C"/>
            </a:solidFill>
            <a:prstDash val="solid"/>
            <a:tailEnd type="triangle"/>
          </a:ln>
        </p:spPr>
      </p:sp>
      <p:sp>
        <p:nvSpPr>
          <p:cNvPr id="8" name="Shape 6"/>
          <p:cNvSpPr/>
          <p:nvPr/>
        </p:nvSpPr>
        <p:spPr>
          <a:xfrm>
            <a:off x="2894076" y="2377440"/>
            <a:ext cx="1920240" cy="1463040"/>
          </a:xfrm>
          <a:prstGeom prst="roundRect">
            <a:avLst>
              <a:gd name="adj" fmla="val 5000"/>
            </a:avLst>
          </a:prstGeom>
          <a:solidFill>
            <a:srgbClr val="52796F"/>
          </a:solidFill>
          <a:ln/>
        </p:spPr>
      </p:sp>
      <p:sp>
        <p:nvSpPr>
          <p:cNvPr id="9" name="Text 7"/>
          <p:cNvSpPr/>
          <p:nvPr/>
        </p:nvSpPr>
        <p:spPr>
          <a:xfrm>
            <a:off x="2985516" y="2542032"/>
            <a:ext cx="1737360" cy="5943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MobileNetV2</a:t>
            </a:r>
            <a:endParaRPr lang="en-US" sz="1250" dirty="0"/>
          </a:p>
        </p:txBody>
      </p:sp>
      <p:sp>
        <p:nvSpPr>
          <p:cNvPr id="10" name="Text 8"/>
          <p:cNvSpPr/>
          <p:nvPr/>
        </p:nvSpPr>
        <p:spPr>
          <a:xfrm>
            <a:off x="2985516" y="3154680"/>
            <a:ext cx="1737360" cy="594360"/>
          </a:xfrm>
          <a:prstGeom prst="rect">
            <a:avLst/>
          </a:prstGeom>
          <a:noFill/>
          <a:ln/>
        </p:spPr>
        <p:txBody>
          <a:bodyPr wrap="square" lIns="0" tIns="0" rIns="0" bIns="0" rtlCol="0" anchor="t"/>
          <a:lstStyle/>
          <a:p>
            <a:pPr marL="0" indent="0" algn="ctr">
              <a:buNone/>
            </a:pPr>
            <a:r>
              <a:rPr lang="en-US" sz="1000" dirty="0">
                <a:solidFill>
                  <a:srgbClr val="84A98C"/>
                </a:solidFill>
                <a:latin typeface="Calibri" pitchFamily="34" charset="0"/>
                <a:ea typeface="Calibri" pitchFamily="34" charset="-122"/>
                <a:cs typeface="Calibri" pitchFamily="34" charset="-120"/>
              </a:rPr>
              <a:t>Pretrained on ImageNet</a:t>
            </a:r>
            <a:endParaRPr lang="en-US" sz="1000" dirty="0"/>
          </a:p>
          <a:p>
            <a:pPr marL="0" indent="0" algn="ctr">
              <a:buNone/>
            </a:pPr>
            <a:r>
              <a:rPr lang="en-US" sz="1000" dirty="0">
                <a:solidFill>
                  <a:srgbClr val="84A98C"/>
                </a:solidFill>
                <a:latin typeface="Calibri" pitchFamily="34" charset="0"/>
                <a:ea typeface="Calibri" pitchFamily="34" charset="-122"/>
                <a:cs typeface="Calibri" pitchFamily="34" charset="-120"/>
              </a:rPr>
              <a:t>(frozen base)</a:t>
            </a:r>
            <a:endParaRPr lang="en-US" sz="1000" dirty="0"/>
          </a:p>
        </p:txBody>
      </p:sp>
      <p:sp>
        <p:nvSpPr>
          <p:cNvPr id="11" name="Shape 9"/>
          <p:cNvSpPr/>
          <p:nvPr/>
        </p:nvSpPr>
        <p:spPr>
          <a:xfrm>
            <a:off x="4814316" y="3108960"/>
            <a:ext cx="320040" cy="0"/>
          </a:xfrm>
          <a:prstGeom prst="line">
            <a:avLst/>
          </a:prstGeom>
          <a:noFill/>
          <a:ln w="25400">
            <a:solidFill>
              <a:srgbClr val="84A98C"/>
            </a:solidFill>
            <a:prstDash val="solid"/>
            <a:tailEnd type="triangle"/>
          </a:ln>
        </p:spPr>
      </p:sp>
      <p:sp>
        <p:nvSpPr>
          <p:cNvPr id="12" name="Shape 10"/>
          <p:cNvSpPr/>
          <p:nvPr/>
        </p:nvSpPr>
        <p:spPr>
          <a:xfrm>
            <a:off x="5134356" y="2377440"/>
            <a:ext cx="1920240" cy="1463040"/>
          </a:xfrm>
          <a:prstGeom prst="roundRect">
            <a:avLst>
              <a:gd name="adj" fmla="val 5000"/>
            </a:avLst>
          </a:prstGeom>
          <a:solidFill>
            <a:srgbClr val="52796F"/>
          </a:solidFill>
          <a:ln/>
        </p:spPr>
      </p:sp>
      <p:sp>
        <p:nvSpPr>
          <p:cNvPr id="13" name="Text 11"/>
          <p:cNvSpPr/>
          <p:nvPr/>
        </p:nvSpPr>
        <p:spPr>
          <a:xfrm>
            <a:off x="5225796" y="2542032"/>
            <a:ext cx="1737360" cy="5943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Global Avg</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Pooling</a:t>
            </a:r>
            <a:endParaRPr lang="en-US" sz="1250" dirty="0"/>
          </a:p>
        </p:txBody>
      </p:sp>
      <p:sp>
        <p:nvSpPr>
          <p:cNvPr id="14" name="Text 12"/>
          <p:cNvSpPr/>
          <p:nvPr/>
        </p:nvSpPr>
        <p:spPr>
          <a:xfrm>
            <a:off x="5225796" y="3154680"/>
            <a:ext cx="1737360" cy="594360"/>
          </a:xfrm>
          <a:prstGeom prst="rect">
            <a:avLst/>
          </a:prstGeom>
          <a:noFill/>
          <a:ln/>
        </p:spPr>
        <p:txBody>
          <a:bodyPr wrap="square" lIns="0" tIns="0" rIns="0" bIns="0" rtlCol="0" anchor="t"/>
          <a:lstStyle/>
          <a:p>
            <a:pPr marL="0" indent="0" algn="ctr">
              <a:buNone/>
            </a:pPr>
            <a:r>
              <a:rPr lang="en-US" sz="1000" dirty="0">
                <a:solidFill>
                  <a:srgbClr val="84A98C"/>
                </a:solidFill>
                <a:latin typeface="Calibri" pitchFamily="34" charset="0"/>
                <a:ea typeface="Calibri" pitchFamily="34" charset="-122"/>
                <a:cs typeface="Calibri" pitchFamily="34" charset="-120"/>
              </a:rPr>
              <a:t>Feature vector</a:t>
            </a:r>
            <a:endParaRPr lang="en-US" sz="1000" dirty="0"/>
          </a:p>
        </p:txBody>
      </p:sp>
      <p:sp>
        <p:nvSpPr>
          <p:cNvPr id="15" name="Shape 13"/>
          <p:cNvSpPr/>
          <p:nvPr/>
        </p:nvSpPr>
        <p:spPr>
          <a:xfrm>
            <a:off x="7054596" y="3108960"/>
            <a:ext cx="320040" cy="0"/>
          </a:xfrm>
          <a:prstGeom prst="line">
            <a:avLst/>
          </a:prstGeom>
          <a:noFill/>
          <a:ln w="25400">
            <a:solidFill>
              <a:srgbClr val="84A98C"/>
            </a:solidFill>
            <a:prstDash val="solid"/>
            <a:tailEnd type="triangle"/>
          </a:ln>
        </p:spPr>
      </p:sp>
      <p:sp>
        <p:nvSpPr>
          <p:cNvPr id="16" name="Shape 14"/>
          <p:cNvSpPr/>
          <p:nvPr/>
        </p:nvSpPr>
        <p:spPr>
          <a:xfrm>
            <a:off x="7374636" y="2377440"/>
            <a:ext cx="1920240" cy="1463040"/>
          </a:xfrm>
          <a:prstGeom prst="roundRect">
            <a:avLst>
              <a:gd name="adj" fmla="val 5000"/>
            </a:avLst>
          </a:prstGeom>
          <a:solidFill>
            <a:srgbClr val="52796F"/>
          </a:solidFill>
          <a:ln/>
        </p:spPr>
      </p:sp>
      <p:sp>
        <p:nvSpPr>
          <p:cNvPr id="17" name="Text 15"/>
          <p:cNvSpPr/>
          <p:nvPr/>
        </p:nvSpPr>
        <p:spPr>
          <a:xfrm>
            <a:off x="7466076" y="2542032"/>
            <a:ext cx="1737360" cy="5943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Dense (128)</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 Dropout 0.3</a:t>
            </a:r>
            <a:endParaRPr lang="en-US" sz="1250" dirty="0"/>
          </a:p>
        </p:txBody>
      </p:sp>
      <p:sp>
        <p:nvSpPr>
          <p:cNvPr id="18" name="Text 16"/>
          <p:cNvSpPr/>
          <p:nvPr/>
        </p:nvSpPr>
        <p:spPr>
          <a:xfrm>
            <a:off x="7466076" y="3154680"/>
            <a:ext cx="1737360" cy="594360"/>
          </a:xfrm>
          <a:prstGeom prst="rect">
            <a:avLst/>
          </a:prstGeom>
          <a:noFill/>
          <a:ln/>
        </p:spPr>
        <p:txBody>
          <a:bodyPr wrap="square" lIns="0" tIns="0" rIns="0" bIns="0" rtlCol="0" anchor="t"/>
          <a:lstStyle/>
          <a:p>
            <a:pPr marL="0" indent="0" algn="ctr">
              <a:buNone/>
            </a:pPr>
            <a:r>
              <a:rPr lang="en-US" sz="1000" dirty="0">
                <a:solidFill>
                  <a:srgbClr val="84A98C"/>
                </a:solidFill>
                <a:latin typeface="Calibri" pitchFamily="34" charset="0"/>
                <a:ea typeface="Calibri" pitchFamily="34" charset="-122"/>
                <a:cs typeface="Calibri" pitchFamily="34" charset="-120"/>
              </a:rPr>
              <a:t>ReLU activation</a:t>
            </a:r>
            <a:endParaRPr lang="en-US" sz="1000" dirty="0"/>
          </a:p>
        </p:txBody>
      </p:sp>
      <p:sp>
        <p:nvSpPr>
          <p:cNvPr id="19" name="Shape 17"/>
          <p:cNvSpPr/>
          <p:nvPr/>
        </p:nvSpPr>
        <p:spPr>
          <a:xfrm>
            <a:off x="9294876" y="3108960"/>
            <a:ext cx="320040" cy="0"/>
          </a:xfrm>
          <a:prstGeom prst="line">
            <a:avLst/>
          </a:prstGeom>
          <a:noFill/>
          <a:ln w="25400">
            <a:solidFill>
              <a:srgbClr val="84A98C"/>
            </a:solidFill>
            <a:prstDash val="solid"/>
            <a:tailEnd type="triangle"/>
          </a:ln>
        </p:spPr>
      </p:sp>
      <p:sp>
        <p:nvSpPr>
          <p:cNvPr id="20" name="Shape 18"/>
          <p:cNvSpPr/>
          <p:nvPr/>
        </p:nvSpPr>
        <p:spPr>
          <a:xfrm>
            <a:off x="9614916" y="2377440"/>
            <a:ext cx="1920240" cy="1463040"/>
          </a:xfrm>
          <a:prstGeom prst="roundRect">
            <a:avLst>
              <a:gd name="adj" fmla="val 5000"/>
            </a:avLst>
          </a:prstGeom>
          <a:solidFill>
            <a:srgbClr val="CBA135"/>
          </a:solidFill>
          <a:ln/>
        </p:spPr>
      </p:sp>
      <p:sp>
        <p:nvSpPr>
          <p:cNvPr id="21" name="Text 19"/>
          <p:cNvSpPr/>
          <p:nvPr/>
        </p:nvSpPr>
        <p:spPr>
          <a:xfrm>
            <a:off x="9706356" y="2542032"/>
            <a:ext cx="1737360" cy="594360"/>
          </a:xfrm>
          <a:prstGeom prst="rect">
            <a:avLst/>
          </a:prstGeom>
          <a:noFill/>
          <a:ln/>
        </p:spPr>
        <p:txBody>
          <a:bodyPr wrap="square" lIns="0" tIns="0" rIns="0" bIns="0" rtlCol="0" anchor="ctr"/>
          <a:lstStyle/>
          <a:p>
            <a:pPr marL="0" indent="0" algn="ctr">
              <a:buNone/>
            </a:pPr>
            <a:r>
              <a:rPr lang="en-US" sz="1250" b="1" dirty="0">
                <a:solidFill>
                  <a:srgbClr val="1B4332"/>
                </a:solidFill>
                <a:latin typeface="Calibri" pitchFamily="34" charset="0"/>
                <a:ea typeface="Calibri" pitchFamily="34" charset="-122"/>
                <a:cs typeface="Calibri" pitchFamily="34" charset="-120"/>
              </a:rPr>
              <a:t>Dense (6)</a:t>
            </a:r>
            <a:endParaRPr lang="en-US" sz="1250" dirty="0"/>
          </a:p>
        </p:txBody>
      </p:sp>
      <p:sp>
        <p:nvSpPr>
          <p:cNvPr id="22" name="Text 20"/>
          <p:cNvSpPr/>
          <p:nvPr/>
        </p:nvSpPr>
        <p:spPr>
          <a:xfrm>
            <a:off x="9706356" y="3154680"/>
            <a:ext cx="1737360" cy="594360"/>
          </a:xfrm>
          <a:prstGeom prst="rect">
            <a:avLst/>
          </a:prstGeom>
          <a:noFill/>
          <a:ln/>
        </p:spPr>
        <p:txBody>
          <a:bodyPr wrap="square" lIns="0" tIns="0" rIns="0" bIns="0" rtlCol="0" anchor="t"/>
          <a:lstStyle/>
          <a:p>
            <a:pPr marL="0" indent="0" algn="ctr">
              <a:buNone/>
            </a:pPr>
            <a:r>
              <a:rPr lang="en-US" sz="1000" dirty="0">
                <a:solidFill>
                  <a:srgbClr val="1B4332"/>
                </a:solidFill>
                <a:latin typeface="Calibri" pitchFamily="34" charset="0"/>
                <a:ea typeface="Calibri" pitchFamily="34" charset="-122"/>
                <a:cs typeface="Calibri" pitchFamily="34" charset="-120"/>
              </a:rPr>
              <a:t>Softmax output</a:t>
            </a:r>
            <a:endParaRPr lang="en-US" sz="1000" dirty="0"/>
          </a:p>
        </p:txBody>
      </p:sp>
      <p:sp>
        <p:nvSpPr>
          <p:cNvPr id="23" name="Text 21"/>
          <p:cNvSpPr/>
          <p:nvPr/>
        </p:nvSpPr>
        <p:spPr>
          <a:xfrm>
            <a:off x="822960" y="4663440"/>
            <a:ext cx="10515600" cy="548640"/>
          </a:xfrm>
          <a:prstGeom prst="rect">
            <a:avLst/>
          </a:prstGeom>
          <a:noFill/>
          <a:ln/>
        </p:spPr>
        <p:txBody>
          <a:bodyPr wrap="square" lIns="0" tIns="0" rIns="0" bIns="0" rtlCol="0" anchor="ctr"/>
          <a:lstStyle/>
          <a:p>
            <a:pPr marL="0" indent="0">
              <a:buNone/>
            </a:pPr>
            <a:r>
              <a:rPr lang="en-US" sz="1400" b="1" dirty="0">
                <a:solidFill>
                  <a:srgbClr val="CBA135"/>
                </a:solidFill>
                <a:latin typeface="Calibri" pitchFamily="34" charset="0"/>
                <a:ea typeface="Calibri" pitchFamily="34" charset="-122"/>
                <a:cs typeface="Calibri" pitchFamily="34" charset="-120"/>
              </a:rPr>
              <a:t>Base architecture:  </a:t>
            </a:r>
            <a:r>
              <a:rPr lang="en-US" sz="1400" dirty="0">
                <a:solidFill>
                  <a:srgbClr val="FFFFFF"/>
                </a:solidFill>
                <a:latin typeface="Calibri" pitchFamily="34" charset="0"/>
                <a:ea typeface="Calibri" pitchFamily="34" charset="-122"/>
                <a:cs typeface="Calibri" pitchFamily="34" charset="-120"/>
              </a:rPr>
              <a:t>Custom CNN, with optional transfer learning via MobileNetV2 or EfficientNetB0 for higher accuracy.</a:t>
            </a:r>
            <a:endParaRPr lang="en-US" sz="1400" dirty="0"/>
          </a:p>
        </p:txBody>
      </p:sp>
      <p:sp>
        <p:nvSpPr>
          <p:cNvPr id="24" name="Text 22"/>
          <p:cNvSpPr/>
          <p:nvPr/>
        </p:nvSpPr>
        <p:spPr>
          <a:xfrm>
            <a:off x="822960" y="5257800"/>
            <a:ext cx="10515600" cy="548640"/>
          </a:xfrm>
          <a:prstGeom prst="rect">
            <a:avLst/>
          </a:prstGeom>
          <a:noFill/>
          <a:ln/>
        </p:spPr>
        <p:txBody>
          <a:bodyPr wrap="square" lIns="0" tIns="0" rIns="0" bIns="0" rtlCol="0" anchor="ctr"/>
          <a:lstStyle/>
          <a:p>
            <a:pPr marL="0" indent="0">
              <a:buNone/>
            </a:pPr>
            <a:r>
              <a:rPr lang="en-US" sz="1400" b="1" dirty="0">
                <a:solidFill>
                  <a:srgbClr val="CBA135"/>
                </a:solidFill>
                <a:latin typeface="Calibri" pitchFamily="34" charset="0"/>
                <a:ea typeface="Calibri" pitchFamily="34" charset="-122"/>
                <a:cs typeface="Calibri" pitchFamily="34" charset="-120"/>
              </a:rPr>
              <a:t>Training:  </a:t>
            </a:r>
            <a:r>
              <a:rPr lang="en-US" sz="1400" dirty="0">
                <a:solidFill>
                  <a:srgbClr val="FFFFFF"/>
                </a:solidFill>
                <a:latin typeface="Calibri" pitchFamily="34" charset="0"/>
                <a:ea typeface="Calibri" pitchFamily="34" charset="-122"/>
                <a:cs typeface="Calibri" pitchFamily="34" charset="-120"/>
              </a:rPr>
              <a:t>Adam optimizer, sparse categorical cross-entropy loss, 10 epochs with base layers frozen.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lIns="0" tIns="0" rIns="0" bIns="0" rtlCol="0" anchor="ctr"/>
          <a:lstStyle/>
          <a:p>
            <a:pPr marL="0" indent="0">
              <a:buNone/>
            </a:pPr>
            <a:r>
              <a:rPr lang="en-US" sz="3200" b="1" dirty="0">
                <a:solidFill>
                  <a:srgbClr val="1B4332"/>
                </a:solidFill>
                <a:latin typeface="Cambria" pitchFamily="34" charset="0"/>
                <a:ea typeface="Cambria" pitchFamily="34" charset="-122"/>
                <a:cs typeface="Cambria" pitchFamily="34" charset="-120"/>
              </a:rPr>
              <a:t>Project Workflow</a:t>
            </a:r>
            <a:endParaRPr lang="en-US" sz="3200" dirty="0"/>
          </a:p>
        </p:txBody>
      </p:sp>
      <p:sp>
        <p:nvSpPr>
          <p:cNvPr id="3" name="Shape 1"/>
          <p:cNvSpPr/>
          <p:nvPr/>
        </p:nvSpPr>
        <p:spPr>
          <a:xfrm>
            <a:off x="640080" y="1417320"/>
            <a:ext cx="457200" cy="457200"/>
          </a:xfrm>
          <a:prstGeom prst="ellipse">
            <a:avLst/>
          </a:prstGeom>
          <a:solidFill>
            <a:srgbClr val="1B4332"/>
          </a:solidFill>
          <a:ln/>
        </p:spPr>
      </p:sp>
      <p:sp>
        <p:nvSpPr>
          <p:cNvPr id="4" name="Text 2"/>
          <p:cNvSpPr/>
          <p:nvPr/>
        </p:nvSpPr>
        <p:spPr>
          <a:xfrm>
            <a:off x="640080" y="14173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Shape 3"/>
          <p:cNvSpPr/>
          <p:nvPr/>
        </p:nvSpPr>
        <p:spPr>
          <a:xfrm>
            <a:off x="1325880" y="1435608"/>
            <a:ext cx="9601200" cy="420624"/>
          </a:xfrm>
          <a:prstGeom prst="roundRect">
            <a:avLst>
              <a:gd name="adj" fmla="val 13043"/>
            </a:avLst>
          </a:prstGeom>
          <a:solidFill>
            <a:srgbClr val="FFFFFF"/>
          </a:solidFill>
          <a:ln/>
          <a:effectLst>
            <a:outerShdw blurRad="50800" dist="12700" dir="2700000" algn="bl" rotWithShape="0">
              <a:srgbClr val="000000">
                <a:alpha val="8000"/>
              </a:srgbClr>
            </a:outerShdw>
          </a:effectLst>
        </p:spPr>
      </p:sp>
      <p:sp>
        <p:nvSpPr>
          <p:cNvPr id="6" name="Text 4"/>
          <p:cNvSpPr/>
          <p:nvPr/>
        </p:nvSpPr>
        <p:spPr>
          <a:xfrm>
            <a:off x="1554480" y="1435608"/>
            <a:ext cx="9144000" cy="420624"/>
          </a:xfrm>
          <a:prstGeom prst="rect">
            <a:avLst/>
          </a:prstGeom>
          <a:noFill/>
          <a:ln/>
        </p:spPr>
        <p:txBody>
          <a:bodyPr wrap="square" lIns="0" tIns="0" rIns="0" bIns="0" rtlCol="0" anchor="ctr"/>
          <a:lstStyle/>
          <a:p>
            <a:pPr marL="0" indent="0">
              <a:buNone/>
            </a:pPr>
            <a:r>
              <a:rPr lang="en-US" sz="1350" dirty="0">
                <a:solidFill>
                  <a:srgbClr val="1B2A25"/>
                </a:solidFill>
                <a:latin typeface="Calibri" pitchFamily="34" charset="0"/>
                <a:ea typeface="Calibri" pitchFamily="34" charset="-122"/>
                <a:cs typeface="Calibri" pitchFamily="34" charset="-120"/>
              </a:rPr>
              <a:t>Collect the waste image dataset</a:t>
            </a:r>
            <a:endParaRPr lang="en-US" sz="1350" dirty="0"/>
          </a:p>
        </p:txBody>
      </p:sp>
      <p:sp>
        <p:nvSpPr>
          <p:cNvPr id="7" name="Shape 5"/>
          <p:cNvSpPr/>
          <p:nvPr/>
        </p:nvSpPr>
        <p:spPr>
          <a:xfrm>
            <a:off x="868680" y="1874520"/>
            <a:ext cx="0" cy="201168"/>
          </a:xfrm>
          <a:prstGeom prst="line">
            <a:avLst/>
          </a:prstGeom>
          <a:noFill/>
          <a:ln w="19050">
            <a:solidFill>
              <a:srgbClr val="84A98C"/>
            </a:solidFill>
            <a:prstDash val="dash"/>
          </a:ln>
        </p:spPr>
      </p:sp>
      <p:sp>
        <p:nvSpPr>
          <p:cNvPr id="8" name="Shape 6"/>
          <p:cNvSpPr/>
          <p:nvPr/>
        </p:nvSpPr>
        <p:spPr>
          <a:xfrm>
            <a:off x="640080" y="2075688"/>
            <a:ext cx="457200" cy="457200"/>
          </a:xfrm>
          <a:prstGeom prst="ellipse">
            <a:avLst/>
          </a:prstGeom>
          <a:solidFill>
            <a:srgbClr val="52796F"/>
          </a:solidFill>
          <a:ln/>
        </p:spPr>
      </p:sp>
      <p:sp>
        <p:nvSpPr>
          <p:cNvPr id="9" name="Text 7"/>
          <p:cNvSpPr/>
          <p:nvPr/>
        </p:nvSpPr>
        <p:spPr>
          <a:xfrm>
            <a:off x="640080" y="20756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Shape 8"/>
          <p:cNvSpPr/>
          <p:nvPr/>
        </p:nvSpPr>
        <p:spPr>
          <a:xfrm>
            <a:off x="1325880" y="2093976"/>
            <a:ext cx="9601200" cy="420624"/>
          </a:xfrm>
          <a:prstGeom prst="roundRect">
            <a:avLst>
              <a:gd name="adj" fmla="val 13043"/>
            </a:avLst>
          </a:prstGeom>
          <a:solidFill>
            <a:srgbClr val="FFFFFF"/>
          </a:solidFill>
          <a:ln/>
          <a:effectLst>
            <a:outerShdw blurRad="50800" dist="12700" dir="2700000" algn="bl" rotWithShape="0">
              <a:srgbClr val="000000">
                <a:alpha val="8000"/>
              </a:srgbClr>
            </a:outerShdw>
          </a:effectLst>
        </p:spPr>
      </p:sp>
      <p:sp>
        <p:nvSpPr>
          <p:cNvPr id="11" name="Text 9"/>
          <p:cNvSpPr/>
          <p:nvPr/>
        </p:nvSpPr>
        <p:spPr>
          <a:xfrm>
            <a:off x="1554480" y="2093976"/>
            <a:ext cx="9144000" cy="420624"/>
          </a:xfrm>
          <a:prstGeom prst="rect">
            <a:avLst/>
          </a:prstGeom>
          <a:noFill/>
          <a:ln/>
        </p:spPr>
        <p:txBody>
          <a:bodyPr wrap="square" lIns="0" tIns="0" rIns="0" bIns="0" rtlCol="0" anchor="ctr"/>
          <a:lstStyle/>
          <a:p>
            <a:pPr marL="0" indent="0">
              <a:buNone/>
            </a:pPr>
            <a:r>
              <a:rPr lang="en-US" sz="1350" dirty="0">
                <a:solidFill>
                  <a:srgbClr val="1B2A25"/>
                </a:solidFill>
                <a:latin typeface="Calibri" pitchFamily="34" charset="0"/>
                <a:ea typeface="Calibri" pitchFamily="34" charset="-122"/>
                <a:cs typeface="Calibri" pitchFamily="34" charset="-120"/>
              </a:rPr>
              <a:t>Preprocess and resize images (224×224)</a:t>
            </a:r>
            <a:endParaRPr lang="en-US" sz="1350" dirty="0"/>
          </a:p>
        </p:txBody>
      </p:sp>
      <p:sp>
        <p:nvSpPr>
          <p:cNvPr id="12" name="Shape 10"/>
          <p:cNvSpPr/>
          <p:nvPr/>
        </p:nvSpPr>
        <p:spPr>
          <a:xfrm>
            <a:off x="868680" y="2532888"/>
            <a:ext cx="0" cy="201168"/>
          </a:xfrm>
          <a:prstGeom prst="line">
            <a:avLst/>
          </a:prstGeom>
          <a:noFill/>
          <a:ln w="19050">
            <a:solidFill>
              <a:srgbClr val="84A98C"/>
            </a:solidFill>
            <a:prstDash val="dash"/>
          </a:ln>
        </p:spPr>
      </p:sp>
      <p:sp>
        <p:nvSpPr>
          <p:cNvPr id="13" name="Shape 11"/>
          <p:cNvSpPr/>
          <p:nvPr/>
        </p:nvSpPr>
        <p:spPr>
          <a:xfrm>
            <a:off x="640080" y="2734056"/>
            <a:ext cx="457200" cy="457200"/>
          </a:xfrm>
          <a:prstGeom prst="ellipse">
            <a:avLst/>
          </a:prstGeom>
          <a:solidFill>
            <a:srgbClr val="1B4332"/>
          </a:solidFill>
          <a:ln/>
        </p:spPr>
      </p:sp>
      <p:sp>
        <p:nvSpPr>
          <p:cNvPr id="14" name="Text 12"/>
          <p:cNvSpPr/>
          <p:nvPr/>
        </p:nvSpPr>
        <p:spPr>
          <a:xfrm>
            <a:off x="640080" y="273405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Shape 13"/>
          <p:cNvSpPr/>
          <p:nvPr/>
        </p:nvSpPr>
        <p:spPr>
          <a:xfrm>
            <a:off x="1325880" y="2752344"/>
            <a:ext cx="9601200" cy="420624"/>
          </a:xfrm>
          <a:prstGeom prst="roundRect">
            <a:avLst>
              <a:gd name="adj" fmla="val 13043"/>
            </a:avLst>
          </a:prstGeom>
          <a:solidFill>
            <a:srgbClr val="FFFFFF"/>
          </a:solidFill>
          <a:ln/>
          <a:effectLst>
            <a:outerShdw blurRad="50800" dist="12700" dir="2700000" algn="bl" rotWithShape="0">
              <a:srgbClr val="000000">
                <a:alpha val="8000"/>
              </a:srgbClr>
            </a:outerShdw>
          </a:effectLst>
        </p:spPr>
      </p:sp>
      <p:sp>
        <p:nvSpPr>
          <p:cNvPr id="16" name="Text 14"/>
          <p:cNvSpPr/>
          <p:nvPr/>
        </p:nvSpPr>
        <p:spPr>
          <a:xfrm>
            <a:off x="1554480" y="2752344"/>
            <a:ext cx="9144000" cy="420624"/>
          </a:xfrm>
          <a:prstGeom prst="rect">
            <a:avLst/>
          </a:prstGeom>
          <a:noFill/>
          <a:ln/>
        </p:spPr>
        <p:txBody>
          <a:bodyPr wrap="square" lIns="0" tIns="0" rIns="0" bIns="0" rtlCol="0" anchor="ctr"/>
          <a:lstStyle/>
          <a:p>
            <a:pPr marL="0" indent="0">
              <a:buNone/>
            </a:pPr>
            <a:r>
              <a:rPr lang="en-US" sz="1350" dirty="0">
                <a:solidFill>
                  <a:srgbClr val="1B2A25"/>
                </a:solidFill>
                <a:latin typeface="Calibri" pitchFamily="34" charset="0"/>
                <a:ea typeface="Calibri" pitchFamily="34" charset="-122"/>
                <a:cs typeface="Calibri" pitchFamily="34" charset="-120"/>
              </a:rPr>
              <a:t>Split into training, validation, and testing sets</a:t>
            </a:r>
            <a:endParaRPr lang="en-US" sz="1350" dirty="0"/>
          </a:p>
        </p:txBody>
      </p:sp>
      <p:sp>
        <p:nvSpPr>
          <p:cNvPr id="17" name="Shape 15"/>
          <p:cNvSpPr/>
          <p:nvPr/>
        </p:nvSpPr>
        <p:spPr>
          <a:xfrm>
            <a:off x="868680" y="3191256"/>
            <a:ext cx="0" cy="201168"/>
          </a:xfrm>
          <a:prstGeom prst="line">
            <a:avLst/>
          </a:prstGeom>
          <a:noFill/>
          <a:ln w="19050">
            <a:solidFill>
              <a:srgbClr val="84A98C"/>
            </a:solidFill>
            <a:prstDash val="dash"/>
          </a:ln>
        </p:spPr>
      </p:sp>
      <p:sp>
        <p:nvSpPr>
          <p:cNvPr id="18" name="Shape 16"/>
          <p:cNvSpPr/>
          <p:nvPr/>
        </p:nvSpPr>
        <p:spPr>
          <a:xfrm>
            <a:off x="640080" y="3392424"/>
            <a:ext cx="457200" cy="457200"/>
          </a:xfrm>
          <a:prstGeom prst="ellipse">
            <a:avLst/>
          </a:prstGeom>
          <a:solidFill>
            <a:srgbClr val="52796F"/>
          </a:solidFill>
          <a:ln/>
        </p:spPr>
      </p:sp>
      <p:sp>
        <p:nvSpPr>
          <p:cNvPr id="19" name="Text 17"/>
          <p:cNvSpPr/>
          <p:nvPr/>
        </p:nvSpPr>
        <p:spPr>
          <a:xfrm>
            <a:off x="640080" y="339242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Shape 18"/>
          <p:cNvSpPr/>
          <p:nvPr/>
        </p:nvSpPr>
        <p:spPr>
          <a:xfrm>
            <a:off x="1325880" y="3410712"/>
            <a:ext cx="9601200" cy="420624"/>
          </a:xfrm>
          <a:prstGeom prst="roundRect">
            <a:avLst>
              <a:gd name="adj" fmla="val 13043"/>
            </a:avLst>
          </a:prstGeom>
          <a:solidFill>
            <a:srgbClr val="FFFFFF"/>
          </a:solidFill>
          <a:ln/>
          <a:effectLst>
            <a:outerShdw blurRad="50800" dist="12700" dir="2700000" algn="bl" rotWithShape="0">
              <a:srgbClr val="000000">
                <a:alpha val="8000"/>
              </a:srgbClr>
            </a:outerShdw>
          </a:effectLst>
        </p:spPr>
      </p:sp>
      <p:sp>
        <p:nvSpPr>
          <p:cNvPr id="21" name="Text 19"/>
          <p:cNvSpPr/>
          <p:nvPr/>
        </p:nvSpPr>
        <p:spPr>
          <a:xfrm>
            <a:off x="1554480" y="3410712"/>
            <a:ext cx="9144000" cy="420624"/>
          </a:xfrm>
          <a:prstGeom prst="rect">
            <a:avLst/>
          </a:prstGeom>
          <a:noFill/>
          <a:ln/>
        </p:spPr>
        <p:txBody>
          <a:bodyPr wrap="square" lIns="0" tIns="0" rIns="0" bIns="0" rtlCol="0" anchor="ctr"/>
          <a:lstStyle/>
          <a:p>
            <a:pPr marL="0" indent="0">
              <a:buNone/>
            </a:pPr>
            <a:r>
              <a:rPr lang="en-US" sz="1350" dirty="0">
                <a:solidFill>
                  <a:srgbClr val="1B2A25"/>
                </a:solidFill>
                <a:latin typeface="Calibri" pitchFamily="34" charset="0"/>
                <a:ea typeface="Calibri" pitchFamily="34" charset="-122"/>
                <a:cs typeface="Calibri" pitchFamily="34" charset="-120"/>
              </a:rPr>
              <a:t>Train the CNN model</a:t>
            </a:r>
            <a:endParaRPr lang="en-US" sz="1350" dirty="0"/>
          </a:p>
        </p:txBody>
      </p:sp>
      <p:sp>
        <p:nvSpPr>
          <p:cNvPr id="22" name="Shape 20"/>
          <p:cNvSpPr/>
          <p:nvPr/>
        </p:nvSpPr>
        <p:spPr>
          <a:xfrm>
            <a:off x="868680" y="3849624"/>
            <a:ext cx="0" cy="201168"/>
          </a:xfrm>
          <a:prstGeom prst="line">
            <a:avLst/>
          </a:prstGeom>
          <a:noFill/>
          <a:ln w="19050">
            <a:solidFill>
              <a:srgbClr val="84A98C"/>
            </a:solidFill>
            <a:prstDash val="dash"/>
          </a:ln>
        </p:spPr>
      </p:sp>
      <p:sp>
        <p:nvSpPr>
          <p:cNvPr id="23" name="Shape 21"/>
          <p:cNvSpPr/>
          <p:nvPr/>
        </p:nvSpPr>
        <p:spPr>
          <a:xfrm>
            <a:off x="640080" y="4050792"/>
            <a:ext cx="457200" cy="457200"/>
          </a:xfrm>
          <a:prstGeom prst="ellipse">
            <a:avLst/>
          </a:prstGeom>
          <a:solidFill>
            <a:srgbClr val="1B4332"/>
          </a:solidFill>
          <a:ln/>
        </p:spPr>
      </p:sp>
      <p:sp>
        <p:nvSpPr>
          <p:cNvPr id="24" name="Text 22"/>
          <p:cNvSpPr/>
          <p:nvPr/>
        </p:nvSpPr>
        <p:spPr>
          <a:xfrm>
            <a:off x="640080" y="40507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5" name="Shape 23"/>
          <p:cNvSpPr/>
          <p:nvPr/>
        </p:nvSpPr>
        <p:spPr>
          <a:xfrm>
            <a:off x="1325880" y="4069080"/>
            <a:ext cx="9601200" cy="420624"/>
          </a:xfrm>
          <a:prstGeom prst="roundRect">
            <a:avLst>
              <a:gd name="adj" fmla="val 13043"/>
            </a:avLst>
          </a:prstGeom>
          <a:solidFill>
            <a:srgbClr val="FFFFFF"/>
          </a:solidFill>
          <a:ln/>
          <a:effectLst>
            <a:outerShdw blurRad="50800" dist="12700" dir="2700000" algn="bl" rotWithShape="0">
              <a:srgbClr val="000000">
                <a:alpha val="8000"/>
              </a:srgbClr>
            </a:outerShdw>
          </a:effectLst>
        </p:spPr>
      </p:sp>
      <p:sp>
        <p:nvSpPr>
          <p:cNvPr id="26" name="Text 24"/>
          <p:cNvSpPr/>
          <p:nvPr/>
        </p:nvSpPr>
        <p:spPr>
          <a:xfrm>
            <a:off x="1554480" y="4069080"/>
            <a:ext cx="9144000" cy="420624"/>
          </a:xfrm>
          <a:prstGeom prst="rect">
            <a:avLst/>
          </a:prstGeom>
          <a:noFill/>
          <a:ln/>
        </p:spPr>
        <p:txBody>
          <a:bodyPr wrap="square" lIns="0" tIns="0" rIns="0" bIns="0" rtlCol="0" anchor="ctr"/>
          <a:lstStyle/>
          <a:p>
            <a:pPr marL="0" indent="0">
              <a:buNone/>
            </a:pPr>
            <a:r>
              <a:rPr lang="en-US" sz="1350" dirty="0">
                <a:solidFill>
                  <a:srgbClr val="1B2A25"/>
                </a:solidFill>
                <a:latin typeface="Calibri" pitchFamily="34" charset="0"/>
                <a:ea typeface="Calibri" pitchFamily="34" charset="-122"/>
                <a:cs typeface="Calibri" pitchFamily="34" charset="-120"/>
              </a:rPr>
              <a:t>Evaluate using accuracy and confusion matrix</a:t>
            </a:r>
            <a:endParaRPr lang="en-US" sz="1350" dirty="0"/>
          </a:p>
        </p:txBody>
      </p:sp>
      <p:sp>
        <p:nvSpPr>
          <p:cNvPr id="27" name="Shape 25"/>
          <p:cNvSpPr/>
          <p:nvPr/>
        </p:nvSpPr>
        <p:spPr>
          <a:xfrm>
            <a:off x="868680" y="4507992"/>
            <a:ext cx="0" cy="201168"/>
          </a:xfrm>
          <a:prstGeom prst="line">
            <a:avLst/>
          </a:prstGeom>
          <a:noFill/>
          <a:ln w="19050">
            <a:solidFill>
              <a:srgbClr val="84A98C"/>
            </a:solidFill>
            <a:prstDash val="dash"/>
          </a:ln>
        </p:spPr>
      </p:sp>
      <p:sp>
        <p:nvSpPr>
          <p:cNvPr id="28" name="Shape 26"/>
          <p:cNvSpPr/>
          <p:nvPr/>
        </p:nvSpPr>
        <p:spPr>
          <a:xfrm>
            <a:off x="640080" y="4709160"/>
            <a:ext cx="457200" cy="457200"/>
          </a:xfrm>
          <a:prstGeom prst="ellipse">
            <a:avLst/>
          </a:prstGeom>
          <a:solidFill>
            <a:srgbClr val="52796F"/>
          </a:solidFill>
          <a:ln/>
        </p:spPr>
      </p:sp>
      <p:sp>
        <p:nvSpPr>
          <p:cNvPr id="29" name="Text 27"/>
          <p:cNvSpPr/>
          <p:nvPr/>
        </p:nvSpPr>
        <p:spPr>
          <a:xfrm>
            <a:off x="640080" y="47091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0" name="Shape 28"/>
          <p:cNvSpPr/>
          <p:nvPr/>
        </p:nvSpPr>
        <p:spPr>
          <a:xfrm>
            <a:off x="1325880" y="4727448"/>
            <a:ext cx="9601200" cy="420624"/>
          </a:xfrm>
          <a:prstGeom prst="roundRect">
            <a:avLst>
              <a:gd name="adj" fmla="val 13043"/>
            </a:avLst>
          </a:prstGeom>
          <a:solidFill>
            <a:srgbClr val="FFFFFF"/>
          </a:solidFill>
          <a:ln/>
          <a:effectLst>
            <a:outerShdw blurRad="50800" dist="12700" dir="2700000" algn="bl" rotWithShape="0">
              <a:srgbClr val="000000">
                <a:alpha val="8000"/>
              </a:srgbClr>
            </a:outerShdw>
          </a:effectLst>
        </p:spPr>
      </p:sp>
      <p:sp>
        <p:nvSpPr>
          <p:cNvPr id="31" name="Text 29"/>
          <p:cNvSpPr/>
          <p:nvPr/>
        </p:nvSpPr>
        <p:spPr>
          <a:xfrm>
            <a:off x="1554480" y="4727448"/>
            <a:ext cx="9144000" cy="420624"/>
          </a:xfrm>
          <a:prstGeom prst="rect">
            <a:avLst/>
          </a:prstGeom>
          <a:noFill/>
          <a:ln/>
        </p:spPr>
        <p:txBody>
          <a:bodyPr wrap="square" lIns="0" tIns="0" rIns="0" bIns="0" rtlCol="0" anchor="ctr"/>
          <a:lstStyle/>
          <a:p>
            <a:pPr marL="0" indent="0">
              <a:buNone/>
            </a:pPr>
            <a:r>
              <a:rPr lang="en-US" sz="1350" dirty="0">
                <a:solidFill>
                  <a:srgbClr val="1B2A25"/>
                </a:solidFill>
                <a:latin typeface="Calibri" pitchFamily="34" charset="0"/>
                <a:ea typeface="Calibri" pitchFamily="34" charset="-122"/>
                <a:cs typeface="Calibri" pitchFamily="34" charset="-120"/>
              </a:rPr>
              <a:t>Predict the waste category for new images</a:t>
            </a:r>
            <a:endParaRPr lang="en-US" sz="1350" dirty="0"/>
          </a:p>
        </p:txBody>
      </p:sp>
      <p:sp>
        <p:nvSpPr>
          <p:cNvPr id="32" name="Shape 30"/>
          <p:cNvSpPr/>
          <p:nvPr/>
        </p:nvSpPr>
        <p:spPr>
          <a:xfrm>
            <a:off x="868680" y="5166360"/>
            <a:ext cx="0" cy="201168"/>
          </a:xfrm>
          <a:prstGeom prst="line">
            <a:avLst/>
          </a:prstGeom>
          <a:noFill/>
          <a:ln w="19050">
            <a:solidFill>
              <a:srgbClr val="84A98C"/>
            </a:solidFill>
            <a:prstDash val="dash"/>
          </a:ln>
        </p:spPr>
      </p:sp>
      <p:sp>
        <p:nvSpPr>
          <p:cNvPr id="33" name="Shape 31"/>
          <p:cNvSpPr/>
          <p:nvPr/>
        </p:nvSpPr>
        <p:spPr>
          <a:xfrm>
            <a:off x="640080" y="5367528"/>
            <a:ext cx="457200" cy="457200"/>
          </a:xfrm>
          <a:prstGeom prst="ellipse">
            <a:avLst/>
          </a:prstGeom>
          <a:solidFill>
            <a:srgbClr val="1B4332"/>
          </a:solidFill>
          <a:ln/>
        </p:spPr>
      </p:sp>
      <p:sp>
        <p:nvSpPr>
          <p:cNvPr id="34" name="Text 32"/>
          <p:cNvSpPr/>
          <p:nvPr/>
        </p:nvSpPr>
        <p:spPr>
          <a:xfrm>
            <a:off x="640080" y="536752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5" name="Shape 33"/>
          <p:cNvSpPr/>
          <p:nvPr/>
        </p:nvSpPr>
        <p:spPr>
          <a:xfrm>
            <a:off x="1325880" y="5385816"/>
            <a:ext cx="9601200" cy="420624"/>
          </a:xfrm>
          <a:prstGeom prst="roundRect">
            <a:avLst>
              <a:gd name="adj" fmla="val 13043"/>
            </a:avLst>
          </a:prstGeom>
          <a:solidFill>
            <a:srgbClr val="FFFFFF"/>
          </a:solidFill>
          <a:ln/>
          <a:effectLst>
            <a:outerShdw blurRad="50800" dist="12700" dir="2700000" algn="bl" rotWithShape="0">
              <a:srgbClr val="000000">
                <a:alpha val="8000"/>
              </a:srgbClr>
            </a:outerShdw>
          </a:effectLst>
        </p:spPr>
      </p:sp>
      <p:sp>
        <p:nvSpPr>
          <p:cNvPr id="36" name="Text 34"/>
          <p:cNvSpPr/>
          <p:nvPr/>
        </p:nvSpPr>
        <p:spPr>
          <a:xfrm>
            <a:off x="1554480" y="5385816"/>
            <a:ext cx="9144000" cy="420624"/>
          </a:xfrm>
          <a:prstGeom prst="rect">
            <a:avLst/>
          </a:prstGeom>
          <a:noFill/>
          <a:ln/>
        </p:spPr>
        <p:txBody>
          <a:bodyPr wrap="square" lIns="0" tIns="0" rIns="0" bIns="0" rtlCol="0" anchor="ctr"/>
          <a:lstStyle/>
          <a:p>
            <a:pPr marL="0" indent="0">
              <a:buNone/>
            </a:pPr>
            <a:r>
              <a:rPr lang="en-US" sz="1350" dirty="0">
                <a:solidFill>
                  <a:srgbClr val="1B2A25"/>
                </a:solidFill>
                <a:latin typeface="Calibri" pitchFamily="34" charset="0"/>
                <a:ea typeface="Calibri" pitchFamily="34" charset="-122"/>
                <a:cs typeface="Calibri" pitchFamily="34" charset="-120"/>
              </a:rPr>
              <a:t>Display recycling category and confidence score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lIns="0" tIns="0" rIns="0" bIns="0" rtlCol="0" anchor="ctr"/>
          <a:lstStyle/>
          <a:p>
            <a:pPr marL="0" indent="0">
              <a:buNone/>
            </a:pPr>
            <a:r>
              <a:rPr lang="en-US" sz="3200" b="1" dirty="0">
                <a:solidFill>
                  <a:srgbClr val="1B4332"/>
                </a:solidFill>
                <a:latin typeface="Cambria" pitchFamily="34" charset="0"/>
                <a:ea typeface="Cambria" pitchFamily="34" charset="-122"/>
                <a:cs typeface="Cambria" pitchFamily="34" charset="-120"/>
              </a:rPr>
              <a:t>Expected Output</a:t>
            </a:r>
            <a:endParaRPr lang="en-US" sz="3200" dirty="0"/>
          </a:p>
        </p:txBody>
      </p:sp>
      <p:sp>
        <p:nvSpPr>
          <p:cNvPr id="3" name="Text 1"/>
          <p:cNvSpPr/>
          <p:nvPr/>
        </p:nvSpPr>
        <p:spPr>
          <a:xfrm>
            <a:off x="640080" y="1051560"/>
            <a:ext cx="8229600" cy="365760"/>
          </a:xfrm>
          <a:prstGeom prst="rect">
            <a:avLst/>
          </a:prstGeom>
          <a:noFill/>
          <a:ln/>
        </p:spPr>
        <p:txBody>
          <a:bodyPr wrap="square" lIns="0" tIns="0" rIns="0" bIns="0" rtlCol="0" anchor="ctr"/>
          <a:lstStyle/>
          <a:p>
            <a:pPr marL="0" indent="0">
              <a:buNone/>
            </a:pPr>
            <a:r>
              <a:rPr lang="en-US" sz="1400" dirty="0">
                <a:solidFill>
                  <a:srgbClr val="6B7A72"/>
                </a:solidFill>
                <a:latin typeface="Calibri" pitchFamily="34" charset="0"/>
                <a:ea typeface="Calibri" pitchFamily="34" charset="-122"/>
                <a:cs typeface="Calibri" pitchFamily="34" charset="-120"/>
              </a:rPr>
              <a:t>The Streamlit app returns a category prediction with confidence</a:t>
            </a:r>
            <a:endParaRPr lang="en-US" sz="1400" dirty="0"/>
          </a:p>
        </p:txBody>
      </p:sp>
      <p:sp>
        <p:nvSpPr>
          <p:cNvPr id="4" name="Shape 2"/>
          <p:cNvSpPr/>
          <p:nvPr/>
        </p:nvSpPr>
        <p:spPr>
          <a:xfrm>
            <a:off x="640080" y="1691640"/>
            <a:ext cx="4937760" cy="4480560"/>
          </a:xfrm>
          <a:prstGeom prst="roundRect">
            <a:avLst>
              <a:gd name="adj" fmla="val 1633"/>
            </a:avLst>
          </a:prstGeom>
          <a:solidFill>
            <a:srgbClr val="FFFFFF"/>
          </a:solidFill>
          <a:ln/>
          <a:effectLst>
            <a:outerShdw blurRad="76200" dist="25400" dir="2700000" algn="bl" rotWithShape="0">
              <a:srgbClr val="000000">
                <a:alpha val="10000"/>
              </a:srgbClr>
            </a:outerShdw>
          </a:effectLst>
        </p:spPr>
      </p:sp>
      <p:pic>
        <p:nvPicPr>
          <p:cNvPr id="5" name="Image 0" descr="preencoded.png"/>
          <p:cNvPicPr>
            <a:picLocks noChangeAspect="1"/>
          </p:cNvPicPr>
          <p:nvPr/>
        </p:nvPicPr>
        <p:blipFill>
          <a:blip r:embed="rId3"/>
          <a:stretch>
            <a:fillRect/>
          </a:stretch>
        </p:blipFill>
        <p:spPr>
          <a:xfrm>
            <a:off x="2651760" y="2194560"/>
            <a:ext cx="822960" cy="822960"/>
          </a:xfrm>
          <a:prstGeom prst="rect">
            <a:avLst/>
          </a:prstGeom>
        </p:spPr>
      </p:pic>
      <p:pic>
        <p:nvPicPr>
          <p:cNvPr id="6" name="Image 1" descr="preencoded.png"/>
          <p:cNvPicPr>
            <a:picLocks noChangeAspect="1"/>
          </p:cNvPicPr>
          <p:nvPr/>
        </p:nvPicPr>
        <p:blipFill>
          <a:blip r:embed="rId3"/>
          <a:stretch>
            <a:fillRect/>
          </a:stretch>
        </p:blipFill>
        <p:spPr>
          <a:xfrm>
            <a:off x="2651760" y="2194560"/>
            <a:ext cx="822960" cy="822960"/>
          </a:xfrm>
          <a:prstGeom prst="rect">
            <a:avLst/>
          </a:prstGeom>
        </p:spPr>
      </p:pic>
      <p:sp>
        <p:nvSpPr>
          <p:cNvPr id="7" name="Text 3"/>
          <p:cNvSpPr/>
          <p:nvPr/>
        </p:nvSpPr>
        <p:spPr>
          <a:xfrm>
            <a:off x="822960" y="3200400"/>
            <a:ext cx="4572000" cy="457200"/>
          </a:xfrm>
          <a:prstGeom prst="rect">
            <a:avLst/>
          </a:prstGeom>
          <a:noFill/>
          <a:ln/>
        </p:spPr>
        <p:txBody>
          <a:bodyPr wrap="square" lIns="0" tIns="0" rIns="0" bIns="0" rtlCol="0" anchor="ctr"/>
          <a:lstStyle/>
          <a:p>
            <a:pPr marL="0" indent="0" algn="ctr">
              <a:buNone/>
            </a:pPr>
            <a:r>
              <a:rPr lang="en-US" sz="1500" b="1" dirty="0">
                <a:solidFill>
                  <a:srgbClr val="1B4332"/>
                </a:solidFill>
                <a:latin typeface="Calibri" pitchFamily="34" charset="0"/>
                <a:ea typeface="Calibri" pitchFamily="34" charset="-122"/>
                <a:cs typeface="Calibri" pitchFamily="34" charset="-120"/>
              </a:rPr>
              <a:t>Input: Image of a Waste Item</a:t>
            </a:r>
            <a:endParaRPr lang="en-US" sz="1500" dirty="0"/>
          </a:p>
        </p:txBody>
      </p:sp>
      <p:pic>
        <p:nvPicPr>
          <p:cNvPr id="8" name="Image 2" descr="preencoded.png"/>
          <p:cNvPicPr>
            <a:picLocks noChangeAspect="1"/>
          </p:cNvPicPr>
          <p:nvPr/>
        </p:nvPicPr>
        <p:blipFill>
          <a:blip r:embed="rId4"/>
          <a:stretch>
            <a:fillRect/>
          </a:stretch>
        </p:blipFill>
        <p:spPr>
          <a:xfrm>
            <a:off x="2880360" y="3840480"/>
            <a:ext cx="822960" cy="1097280"/>
          </a:xfrm>
          <a:prstGeom prst="rect">
            <a:avLst/>
          </a:prstGeom>
        </p:spPr>
      </p:pic>
      <p:sp>
        <p:nvSpPr>
          <p:cNvPr id="9" name="Text 4"/>
          <p:cNvSpPr/>
          <p:nvPr/>
        </p:nvSpPr>
        <p:spPr>
          <a:xfrm>
            <a:off x="822960" y="5074920"/>
            <a:ext cx="4572000" cy="365760"/>
          </a:xfrm>
          <a:prstGeom prst="rect">
            <a:avLst/>
          </a:prstGeom>
          <a:noFill/>
          <a:ln/>
        </p:spPr>
        <p:txBody>
          <a:bodyPr wrap="square" lIns="0" tIns="0" rIns="0" bIns="0" rtlCol="0" anchor="ctr"/>
          <a:lstStyle/>
          <a:p>
            <a:pPr marL="0" indent="0" algn="ctr">
              <a:buNone/>
            </a:pPr>
            <a:r>
              <a:rPr lang="en-US" sz="1200" dirty="0">
                <a:solidFill>
                  <a:srgbClr val="6B7A72"/>
                </a:solidFill>
                <a:latin typeface="Calibri" pitchFamily="34" charset="0"/>
                <a:ea typeface="Calibri" pitchFamily="34" charset="-122"/>
                <a:cs typeface="Calibri" pitchFamily="34" charset="-120"/>
              </a:rPr>
              <a:t>plastic_bottle.jpg</a:t>
            </a:r>
            <a:endParaRPr lang="en-US" sz="1200" dirty="0"/>
          </a:p>
        </p:txBody>
      </p:sp>
      <p:sp>
        <p:nvSpPr>
          <p:cNvPr id="10" name="Shape 5"/>
          <p:cNvSpPr/>
          <p:nvPr/>
        </p:nvSpPr>
        <p:spPr>
          <a:xfrm>
            <a:off x="5852160" y="1691640"/>
            <a:ext cx="5715000" cy="4480560"/>
          </a:xfrm>
          <a:prstGeom prst="roundRect">
            <a:avLst>
              <a:gd name="adj" fmla="val 1633"/>
            </a:avLst>
          </a:prstGeom>
          <a:solidFill>
            <a:srgbClr val="1B4332"/>
          </a:solidFill>
          <a:ln/>
        </p:spPr>
      </p:sp>
      <p:sp>
        <p:nvSpPr>
          <p:cNvPr id="11" name="Text 6"/>
          <p:cNvSpPr/>
          <p:nvPr/>
        </p:nvSpPr>
        <p:spPr>
          <a:xfrm>
            <a:off x="6126480" y="1965960"/>
            <a:ext cx="5212080" cy="365760"/>
          </a:xfrm>
          <a:prstGeom prst="rect">
            <a:avLst/>
          </a:prstGeom>
          <a:noFill/>
          <a:ln/>
        </p:spPr>
        <p:txBody>
          <a:bodyPr wrap="square" lIns="0" tIns="0" rIns="0" bIns="0" rtlCol="0" anchor="ctr"/>
          <a:lstStyle/>
          <a:p>
            <a:pPr marL="0" indent="0">
              <a:buNone/>
            </a:pPr>
            <a:r>
              <a:rPr lang="en-US" sz="1400" dirty="0">
                <a:solidFill>
                  <a:srgbClr val="84A98C"/>
                </a:solidFill>
                <a:latin typeface="Calibri" pitchFamily="34" charset="0"/>
                <a:ea typeface="Calibri" pitchFamily="34" charset="-122"/>
                <a:cs typeface="Calibri" pitchFamily="34" charset="-120"/>
              </a:rPr>
              <a:t>Model Output</a:t>
            </a:r>
            <a:endParaRPr lang="en-US" sz="1400" dirty="0"/>
          </a:p>
        </p:txBody>
      </p:sp>
      <p:sp>
        <p:nvSpPr>
          <p:cNvPr id="12" name="Text 7"/>
          <p:cNvSpPr/>
          <p:nvPr/>
        </p:nvSpPr>
        <p:spPr>
          <a:xfrm>
            <a:off x="6126480" y="2377440"/>
            <a:ext cx="5212080" cy="822960"/>
          </a:xfrm>
          <a:prstGeom prst="rect">
            <a:avLst/>
          </a:prstGeom>
          <a:noFill/>
          <a:ln/>
        </p:spPr>
        <p:txBody>
          <a:bodyPr wrap="square" lIns="0" tIns="0" rIns="0" bIns="0" rtlCol="0" anchor="ctr"/>
          <a:lstStyle/>
          <a:p>
            <a:pPr marL="0" indent="0">
              <a:buNone/>
            </a:pPr>
            <a:r>
              <a:rPr lang="en-US" sz="4200" b="1" dirty="0">
                <a:solidFill>
                  <a:srgbClr val="CBA135"/>
                </a:solidFill>
                <a:latin typeface="Cambria" pitchFamily="34" charset="0"/>
                <a:ea typeface="Cambria" pitchFamily="34" charset="-122"/>
                <a:cs typeface="Cambria" pitchFamily="34" charset="-120"/>
              </a:rPr>
              <a:t>Plastic</a:t>
            </a:r>
            <a:endParaRPr lang="en-US" sz="4200" dirty="0"/>
          </a:p>
        </p:txBody>
      </p:sp>
      <p:sp>
        <p:nvSpPr>
          <p:cNvPr id="13" name="Text 8"/>
          <p:cNvSpPr/>
          <p:nvPr/>
        </p:nvSpPr>
        <p:spPr>
          <a:xfrm>
            <a:off x="6126480" y="3154680"/>
            <a:ext cx="5212080" cy="320040"/>
          </a:xfrm>
          <a:prstGeom prst="rect">
            <a:avLst/>
          </a:prstGeom>
          <a:noFill/>
          <a:ln/>
        </p:spPr>
        <p:txBody>
          <a:bodyPr wrap="square" lIns="0" tIns="0" rIns="0" bIns="0" rtlCol="0" anchor="ctr"/>
          <a:lstStyle/>
          <a:p>
            <a:pPr marL="0" indent="0">
              <a:buNone/>
            </a:pPr>
            <a:r>
              <a:rPr lang="en-US" sz="1200" dirty="0">
                <a:solidFill>
                  <a:srgbClr val="84A98C"/>
                </a:solidFill>
                <a:latin typeface="Calibri" pitchFamily="34" charset="0"/>
                <a:ea typeface="Calibri" pitchFamily="34" charset="-122"/>
                <a:cs typeface="Calibri" pitchFamily="34" charset="-120"/>
              </a:rPr>
              <a:t>Predicted Category</a:t>
            </a:r>
            <a:endParaRPr lang="en-US" sz="1200" dirty="0"/>
          </a:p>
        </p:txBody>
      </p:sp>
      <p:sp>
        <p:nvSpPr>
          <p:cNvPr id="14" name="Shape 9"/>
          <p:cNvSpPr/>
          <p:nvPr/>
        </p:nvSpPr>
        <p:spPr>
          <a:xfrm>
            <a:off x="6126480" y="3657600"/>
            <a:ext cx="5166360" cy="0"/>
          </a:xfrm>
          <a:prstGeom prst="line">
            <a:avLst/>
          </a:prstGeom>
          <a:noFill/>
          <a:ln w="12700">
            <a:solidFill>
              <a:srgbClr val="52796F"/>
            </a:solidFill>
            <a:prstDash val="solid"/>
          </a:ln>
        </p:spPr>
      </p:sp>
      <p:sp>
        <p:nvSpPr>
          <p:cNvPr id="15" name="Text 10"/>
          <p:cNvSpPr/>
          <p:nvPr/>
        </p:nvSpPr>
        <p:spPr>
          <a:xfrm>
            <a:off x="6126480" y="3840480"/>
            <a:ext cx="521208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98.4%</a:t>
            </a:r>
            <a:endParaRPr lang="en-US" sz="3200" dirty="0"/>
          </a:p>
        </p:txBody>
      </p:sp>
      <p:sp>
        <p:nvSpPr>
          <p:cNvPr id="16" name="Text 11"/>
          <p:cNvSpPr/>
          <p:nvPr/>
        </p:nvSpPr>
        <p:spPr>
          <a:xfrm>
            <a:off x="6126480" y="4434840"/>
            <a:ext cx="5212080" cy="320040"/>
          </a:xfrm>
          <a:prstGeom prst="rect">
            <a:avLst/>
          </a:prstGeom>
          <a:noFill/>
          <a:ln/>
        </p:spPr>
        <p:txBody>
          <a:bodyPr wrap="square" lIns="0" tIns="0" rIns="0" bIns="0" rtlCol="0" anchor="ctr"/>
          <a:lstStyle/>
          <a:p>
            <a:pPr marL="0" indent="0">
              <a:buNone/>
            </a:pPr>
            <a:r>
              <a:rPr lang="en-US" sz="1200" dirty="0">
                <a:solidFill>
                  <a:srgbClr val="84A98C"/>
                </a:solidFill>
                <a:latin typeface="Calibri" pitchFamily="34" charset="0"/>
                <a:ea typeface="Calibri" pitchFamily="34" charset="-122"/>
                <a:cs typeface="Calibri" pitchFamily="34" charset="-120"/>
              </a:rPr>
              <a:t>Confidence Score</a:t>
            </a:r>
            <a:endParaRPr lang="en-US" sz="1200" dirty="0"/>
          </a:p>
        </p:txBody>
      </p:sp>
      <p:sp>
        <p:nvSpPr>
          <p:cNvPr id="17" name="Shape 12"/>
          <p:cNvSpPr/>
          <p:nvPr/>
        </p:nvSpPr>
        <p:spPr>
          <a:xfrm>
            <a:off x="6126480" y="4937760"/>
            <a:ext cx="5166360" cy="914400"/>
          </a:xfrm>
          <a:prstGeom prst="roundRect">
            <a:avLst>
              <a:gd name="adj" fmla="val 6000"/>
            </a:avLst>
          </a:prstGeom>
          <a:solidFill>
            <a:srgbClr val="52796F"/>
          </a:solidFill>
          <a:ln/>
        </p:spPr>
      </p:sp>
      <p:pic>
        <p:nvPicPr>
          <p:cNvPr id="18" name="Image 3" descr="preencoded.png"/>
          <p:cNvPicPr>
            <a:picLocks noChangeAspect="1"/>
          </p:cNvPicPr>
          <p:nvPr/>
        </p:nvPicPr>
        <p:blipFill>
          <a:blip r:embed="rId5"/>
          <a:stretch>
            <a:fillRect/>
          </a:stretch>
        </p:blipFill>
        <p:spPr>
          <a:xfrm>
            <a:off x="6355080" y="5193792"/>
            <a:ext cx="402336" cy="402336"/>
          </a:xfrm>
          <a:prstGeom prst="rect">
            <a:avLst/>
          </a:prstGeom>
        </p:spPr>
      </p:pic>
      <p:sp>
        <p:nvSpPr>
          <p:cNvPr id="19" name="Text 13"/>
          <p:cNvSpPr/>
          <p:nvPr/>
        </p:nvSpPr>
        <p:spPr>
          <a:xfrm>
            <a:off x="6903720" y="5102352"/>
            <a:ext cx="420624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Suggested Bin: Recyclable Plastic Bin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a:effectLst/>
      </p:bgPr>
    </p:bg>
    <p:spTree>
      <p:nvGrpSpPr>
        <p:cNvPr id="1" name=""/>
        <p:cNvGrpSpPr/>
        <p:nvPr/>
      </p:nvGrpSpPr>
      <p:grpSpPr>
        <a:xfrm>
          <a:off x="0" y="0"/>
          <a:ext cx="0" cy="0"/>
          <a:chOff x="0" y="0"/>
          <a:chExt cx="0" cy="0"/>
        </a:xfrm>
      </p:grpSpPr>
      <p:sp>
        <p:nvSpPr>
          <p:cNvPr id="4" name="Text 2"/>
          <p:cNvSpPr/>
          <p:nvPr/>
        </p:nvSpPr>
        <p:spPr>
          <a:xfrm>
            <a:off x="914400" y="1737360"/>
            <a:ext cx="4937760" cy="4114800"/>
          </a:xfrm>
          <a:prstGeom prst="rect">
            <a:avLst/>
          </a:prstGeom>
          <a:noFill/>
          <a:ln/>
        </p:spPr>
        <p:txBody>
          <a:bodyPr wrap="square" lIns="0" tIns="0" rIns="0" bIns="0" rtlCol="0" anchor="t"/>
          <a:lstStyle/>
          <a:p>
            <a:pPr marL="0" indent="0">
              <a:lnSpc>
                <a:spcPct val="130000"/>
              </a:lnSpc>
              <a:buNone/>
            </a:pPr>
            <a:endParaRPr lang="en-US" sz="1250" dirty="0"/>
          </a:p>
        </p:txBody>
      </p:sp>
      <p:sp>
        <p:nvSpPr>
          <p:cNvPr id="11" name="Text 7"/>
          <p:cNvSpPr/>
          <p:nvPr/>
        </p:nvSpPr>
        <p:spPr>
          <a:xfrm>
            <a:off x="7178040" y="2587752"/>
            <a:ext cx="4572000" cy="365760"/>
          </a:xfrm>
          <a:prstGeom prst="rect">
            <a:avLst/>
          </a:prstGeom>
          <a:noFill/>
          <a:ln/>
        </p:spPr>
        <p:txBody>
          <a:bodyPr wrap="square" lIns="0" tIns="0" rIns="0" bIns="0" rtlCol="0" anchor="ctr"/>
          <a:lstStyle/>
          <a:p>
            <a:pPr marL="0" indent="0">
              <a:buNone/>
            </a:pPr>
            <a:endParaRPr lang="en-US" sz="1400" dirty="0"/>
          </a:p>
        </p:txBody>
      </p:sp>
      <p:sp>
        <p:nvSpPr>
          <p:cNvPr id="12" name="Text 8"/>
          <p:cNvSpPr/>
          <p:nvPr/>
        </p:nvSpPr>
        <p:spPr>
          <a:xfrm>
            <a:off x="7178040" y="2953512"/>
            <a:ext cx="4572000" cy="548640"/>
          </a:xfrm>
          <a:prstGeom prst="rect">
            <a:avLst/>
          </a:prstGeom>
          <a:noFill/>
          <a:ln/>
        </p:spPr>
        <p:txBody>
          <a:bodyPr wrap="square" lIns="0" tIns="0" rIns="0" bIns="0" rtlCol="0" anchor="t"/>
          <a:lstStyle/>
          <a:p>
            <a:pPr marL="0" indent="0">
              <a:buNone/>
            </a:pPr>
            <a:endParaRPr lang="en-US" sz="1250" dirty="0"/>
          </a:p>
        </p:txBody>
      </p:sp>
      <p:sp>
        <p:nvSpPr>
          <p:cNvPr id="15" name="Text 10"/>
          <p:cNvSpPr/>
          <p:nvPr/>
        </p:nvSpPr>
        <p:spPr>
          <a:xfrm>
            <a:off x="7178040" y="3639312"/>
            <a:ext cx="4572000" cy="365760"/>
          </a:xfrm>
          <a:prstGeom prst="rect">
            <a:avLst/>
          </a:prstGeom>
          <a:noFill/>
          <a:ln/>
        </p:spPr>
        <p:txBody>
          <a:bodyPr wrap="square" lIns="0" tIns="0" rIns="0" bIns="0" rtlCol="0" anchor="ctr"/>
          <a:lstStyle/>
          <a:p>
            <a:pPr marL="0" indent="0">
              <a:buNone/>
            </a:pPr>
            <a:endParaRPr lang="en-US" sz="1400" dirty="0"/>
          </a:p>
        </p:txBody>
      </p:sp>
      <p:sp>
        <p:nvSpPr>
          <p:cNvPr id="19" name="Text 13"/>
          <p:cNvSpPr/>
          <p:nvPr/>
        </p:nvSpPr>
        <p:spPr>
          <a:xfrm>
            <a:off x="7178040" y="4690872"/>
            <a:ext cx="4572000" cy="365760"/>
          </a:xfrm>
          <a:prstGeom prst="rect">
            <a:avLst/>
          </a:prstGeom>
          <a:noFill/>
          <a:ln/>
        </p:spPr>
        <p:txBody>
          <a:bodyPr wrap="square" lIns="0" tIns="0" rIns="0" bIns="0" rtlCol="0" anchor="ctr"/>
          <a:lstStyle/>
          <a:p>
            <a:pPr marL="0" indent="0">
              <a:buNone/>
            </a:pPr>
            <a:endParaRPr lang="en-US" sz="1400" b="1" dirty="0">
              <a:solidFill>
                <a:srgbClr val="1B4332"/>
              </a:solidFill>
              <a:latin typeface="Calibri" pitchFamily="34" charset="0"/>
              <a:ea typeface="Calibri" pitchFamily="34" charset="-122"/>
              <a:cs typeface="Calibri" pitchFamily="34" charset="-120"/>
            </a:endParaRPr>
          </a:p>
          <a:p>
            <a:pPr marL="0" indent="0">
              <a:buNone/>
            </a:pPr>
            <a:endParaRPr lang="en-US" sz="1400" dirty="0"/>
          </a:p>
        </p:txBody>
      </p:sp>
      <p:sp>
        <p:nvSpPr>
          <p:cNvPr id="20" name="Text 14"/>
          <p:cNvSpPr/>
          <p:nvPr/>
        </p:nvSpPr>
        <p:spPr>
          <a:xfrm>
            <a:off x="7178040" y="5056632"/>
            <a:ext cx="4572000" cy="548640"/>
          </a:xfrm>
          <a:prstGeom prst="rect">
            <a:avLst/>
          </a:prstGeom>
          <a:noFill/>
          <a:ln/>
        </p:spPr>
        <p:txBody>
          <a:bodyPr wrap="square" lIns="0" tIns="0" rIns="0" bIns="0" rtlCol="0" anchor="t"/>
          <a:lstStyle/>
          <a:p>
            <a:pPr marL="0" indent="0">
              <a:buNone/>
            </a:pPr>
            <a:endParaRPr lang="en-US" sz="1250" dirty="0"/>
          </a:p>
        </p:txBody>
      </p:sp>
      <p:pic>
        <p:nvPicPr>
          <p:cNvPr id="22" name="Picture 21">
            <a:extLst>
              <a:ext uri="{FF2B5EF4-FFF2-40B4-BE49-F238E27FC236}">
                <a16:creationId xmlns:a16="http://schemas.microsoft.com/office/drawing/2014/main" id="{FDA84BD6-8D9B-CA7D-FF66-49B21DAFC604}"/>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37BB97-5030-09C2-AFDE-B07E85514697}"/>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1093840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B4332"/>
        </a:solidFill>
        <a:effectLst/>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Skills Demonstrated</a:t>
            </a:r>
            <a:endParaRPr lang="en-US" sz="3200" dirty="0"/>
          </a:p>
        </p:txBody>
      </p:sp>
      <p:sp>
        <p:nvSpPr>
          <p:cNvPr id="3" name="Shape 1"/>
          <p:cNvSpPr/>
          <p:nvPr/>
        </p:nvSpPr>
        <p:spPr>
          <a:xfrm>
            <a:off x="822960" y="1554480"/>
            <a:ext cx="5120640" cy="1371600"/>
          </a:xfrm>
          <a:prstGeom prst="roundRect">
            <a:avLst>
              <a:gd name="adj" fmla="val 5333"/>
            </a:avLst>
          </a:prstGeom>
          <a:solidFill>
            <a:srgbClr val="52796F">
              <a:alpha val="85000"/>
            </a:srgbClr>
          </a:solidFill>
          <a:ln/>
        </p:spPr>
      </p:sp>
      <p:sp>
        <p:nvSpPr>
          <p:cNvPr id="4" name="Shape 2"/>
          <p:cNvSpPr/>
          <p:nvPr/>
        </p:nvSpPr>
        <p:spPr>
          <a:xfrm>
            <a:off x="1097280" y="1965960"/>
            <a:ext cx="548640" cy="548640"/>
          </a:xfrm>
          <a:prstGeom prst="ellipse">
            <a:avLst/>
          </a:prstGeom>
          <a:solidFill>
            <a:srgbClr val="CBA135"/>
          </a:solidFill>
          <a:ln/>
        </p:spPr>
      </p:sp>
      <p:pic>
        <p:nvPicPr>
          <p:cNvPr id="5" name="Image 0" descr="preencoded.png"/>
          <p:cNvPicPr>
            <a:picLocks noChangeAspect="1"/>
          </p:cNvPicPr>
          <p:nvPr/>
        </p:nvPicPr>
        <p:blipFill>
          <a:blip r:embed="rId3"/>
          <a:stretch>
            <a:fillRect/>
          </a:stretch>
        </p:blipFill>
        <p:spPr>
          <a:xfrm>
            <a:off x="1225296" y="2093976"/>
            <a:ext cx="292608" cy="292608"/>
          </a:xfrm>
          <a:prstGeom prst="rect">
            <a:avLst/>
          </a:prstGeom>
        </p:spPr>
      </p:pic>
      <p:sp>
        <p:nvSpPr>
          <p:cNvPr id="6" name="Text 3"/>
          <p:cNvSpPr/>
          <p:nvPr/>
        </p:nvSpPr>
        <p:spPr>
          <a:xfrm>
            <a:off x="1874520" y="1554480"/>
            <a:ext cx="3840480" cy="137160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Image preprocessing</a:t>
            </a:r>
            <a:endParaRPr lang="en-US" sz="1550" dirty="0"/>
          </a:p>
        </p:txBody>
      </p:sp>
      <p:sp>
        <p:nvSpPr>
          <p:cNvPr id="7" name="Shape 4"/>
          <p:cNvSpPr/>
          <p:nvPr/>
        </p:nvSpPr>
        <p:spPr>
          <a:xfrm>
            <a:off x="6400800" y="1554480"/>
            <a:ext cx="5120640" cy="1371600"/>
          </a:xfrm>
          <a:prstGeom prst="roundRect">
            <a:avLst>
              <a:gd name="adj" fmla="val 5333"/>
            </a:avLst>
          </a:prstGeom>
          <a:solidFill>
            <a:srgbClr val="52796F">
              <a:alpha val="85000"/>
            </a:srgbClr>
          </a:solidFill>
          <a:ln/>
        </p:spPr>
      </p:sp>
      <p:sp>
        <p:nvSpPr>
          <p:cNvPr id="8" name="Shape 5"/>
          <p:cNvSpPr/>
          <p:nvPr/>
        </p:nvSpPr>
        <p:spPr>
          <a:xfrm>
            <a:off x="6675120" y="1965960"/>
            <a:ext cx="548640" cy="548640"/>
          </a:xfrm>
          <a:prstGeom prst="ellipse">
            <a:avLst/>
          </a:prstGeom>
          <a:solidFill>
            <a:srgbClr val="CBA135"/>
          </a:solidFill>
          <a:ln/>
        </p:spPr>
      </p:sp>
      <p:pic>
        <p:nvPicPr>
          <p:cNvPr id="9" name="Image 1" descr="preencoded.png"/>
          <p:cNvPicPr>
            <a:picLocks noChangeAspect="1"/>
          </p:cNvPicPr>
          <p:nvPr/>
        </p:nvPicPr>
        <p:blipFill>
          <a:blip r:embed="rId3"/>
          <a:stretch>
            <a:fillRect/>
          </a:stretch>
        </p:blipFill>
        <p:spPr>
          <a:xfrm>
            <a:off x="6803136" y="2093976"/>
            <a:ext cx="292608" cy="292608"/>
          </a:xfrm>
          <a:prstGeom prst="rect">
            <a:avLst/>
          </a:prstGeom>
        </p:spPr>
      </p:pic>
      <p:sp>
        <p:nvSpPr>
          <p:cNvPr id="10" name="Text 6"/>
          <p:cNvSpPr/>
          <p:nvPr/>
        </p:nvSpPr>
        <p:spPr>
          <a:xfrm>
            <a:off x="7452360" y="1554480"/>
            <a:ext cx="3840480" cy="137160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CNN architecture design</a:t>
            </a:r>
            <a:endParaRPr lang="en-US" sz="1550" dirty="0"/>
          </a:p>
        </p:txBody>
      </p:sp>
      <p:sp>
        <p:nvSpPr>
          <p:cNvPr id="11" name="Shape 7"/>
          <p:cNvSpPr/>
          <p:nvPr/>
        </p:nvSpPr>
        <p:spPr>
          <a:xfrm>
            <a:off x="822960" y="3291840"/>
            <a:ext cx="5120640" cy="1371600"/>
          </a:xfrm>
          <a:prstGeom prst="roundRect">
            <a:avLst>
              <a:gd name="adj" fmla="val 5333"/>
            </a:avLst>
          </a:prstGeom>
          <a:solidFill>
            <a:srgbClr val="52796F">
              <a:alpha val="85000"/>
            </a:srgbClr>
          </a:solidFill>
          <a:ln/>
        </p:spPr>
      </p:sp>
      <p:sp>
        <p:nvSpPr>
          <p:cNvPr id="12" name="Shape 8"/>
          <p:cNvSpPr/>
          <p:nvPr/>
        </p:nvSpPr>
        <p:spPr>
          <a:xfrm>
            <a:off x="1097280" y="3703320"/>
            <a:ext cx="548640" cy="548640"/>
          </a:xfrm>
          <a:prstGeom prst="ellipse">
            <a:avLst/>
          </a:prstGeom>
          <a:solidFill>
            <a:srgbClr val="CBA135"/>
          </a:solidFill>
          <a:ln/>
        </p:spPr>
      </p:sp>
      <p:pic>
        <p:nvPicPr>
          <p:cNvPr id="13" name="Image 2" descr="preencoded.png"/>
          <p:cNvPicPr>
            <a:picLocks noChangeAspect="1"/>
          </p:cNvPicPr>
          <p:nvPr/>
        </p:nvPicPr>
        <p:blipFill>
          <a:blip r:embed="rId3"/>
          <a:stretch>
            <a:fillRect/>
          </a:stretch>
        </p:blipFill>
        <p:spPr>
          <a:xfrm>
            <a:off x="1225296" y="3831336"/>
            <a:ext cx="292608" cy="292608"/>
          </a:xfrm>
          <a:prstGeom prst="rect">
            <a:avLst/>
          </a:prstGeom>
        </p:spPr>
      </p:pic>
      <p:sp>
        <p:nvSpPr>
          <p:cNvPr id="14" name="Text 9"/>
          <p:cNvSpPr/>
          <p:nvPr/>
        </p:nvSpPr>
        <p:spPr>
          <a:xfrm>
            <a:off x="1874520" y="3291840"/>
            <a:ext cx="3840480" cy="137160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Model training &amp; evaluation</a:t>
            </a:r>
            <a:endParaRPr lang="en-US" sz="1550" dirty="0"/>
          </a:p>
        </p:txBody>
      </p:sp>
      <p:sp>
        <p:nvSpPr>
          <p:cNvPr id="15" name="Shape 10"/>
          <p:cNvSpPr/>
          <p:nvPr/>
        </p:nvSpPr>
        <p:spPr>
          <a:xfrm>
            <a:off x="6400800" y="3291840"/>
            <a:ext cx="5120640" cy="1371600"/>
          </a:xfrm>
          <a:prstGeom prst="roundRect">
            <a:avLst>
              <a:gd name="adj" fmla="val 5333"/>
            </a:avLst>
          </a:prstGeom>
          <a:solidFill>
            <a:srgbClr val="52796F">
              <a:alpha val="85000"/>
            </a:srgbClr>
          </a:solidFill>
          <a:ln/>
        </p:spPr>
      </p:sp>
      <p:sp>
        <p:nvSpPr>
          <p:cNvPr id="16" name="Shape 11"/>
          <p:cNvSpPr/>
          <p:nvPr/>
        </p:nvSpPr>
        <p:spPr>
          <a:xfrm>
            <a:off x="6675120" y="3703320"/>
            <a:ext cx="548640" cy="548640"/>
          </a:xfrm>
          <a:prstGeom prst="ellipse">
            <a:avLst/>
          </a:prstGeom>
          <a:solidFill>
            <a:srgbClr val="CBA135"/>
          </a:solidFill>
          <a:ln/>
        </p:spPr>
      </p:sp>
      <p:pic>
        <p:nvPicPr>
          <p:cNvPr id="17" name="Image 3" descr="preencoded.png"/>
          <p:cNvPicPr>
            <a:picLocks noChangeAspect="1"/>
          </p:cNvPicPr>
          <p:nvPr/>
        </p:nvPicPr>
        <p:blipFill>
          <a:blip r:embed="rId3"/>
          <a:stretch>
            <a:fillRect/>
          </a:stretch>
        </p:blipFill>
        <p:spPr>
          <a:xfrm>
            <a:off x="6803136" y="3831336"/>
            <a:ext cx="292608" cy="292608"/>
          </a:xfrm>
          <a:prstGeom prst="rect">
            <a:avLst/>
          </a:prstGeom>
        </p:spPr>
      </p:pic>
      <p:sp>
        <p:nvSpPr>
          <p:cNvPr id="18" name="Text 12"/>
          <p:cNvSpPr/>
          <p:nvPr/>
        </p:nvSpPr>
        <p:spPr>
          <a:xfrm>
            <a:off x="7452360" y="3291840"/>
            <a:ext cx="3840480" cy="137160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Transfer learning</a:t>
            </a:r>
            <a:endParaRPr lang="en-US" sz="1550" dirty="0"/>
          </a:p>
        </p:txBody>
      </p:sp>
      <p:sp>
        <p:nvSpPr>
          <p:cNvPr id="19" name="Shape 13"/>
          <p:cNvSpPr/>
          <p:nvPr/>
        </p:nvSpPr>
        <p:spPr>
          <a:xfrm>
            <a:off x="822960" y="5029200"/>
            <a:ext cx="5120640" cy="1371600"/>
          </a:xfrm>
          <a:prstGeom prst="roundRect">
            <a:avLst>
              <a:gd name="adj" fmla="val 5333"/>
            </a:avLst>
          </a:prstGeom>
          <a:solidFill>
            <a:srgbClr val="52796F">
              <a:alpha val="85000"/>
            </a:srgbClr>
          </a:solidFill>
          <a:ln/>
        </p:spPr>
      </p:sp>
      <p:sp>
        <p:nvSpPr>
          <p:cNvPr id="20" name="Shape 14"/>
          <p:cNvSpPr/>
          <p:nvPr/>
        </p:nvSpPr>
        <p:spPr>
          <a:xfrm>
            <a:off x="1097280" y="5440680"/>
            <a:ext cx="548640" cy="548640"/>
          </a:xfrm>
          <a:prstGeom prst="ellipse">
            <a:avLst/>
          </a:prstGeom>
          <a:solidFill>
            <a:srgbClr val="CBA135"/>
          </a:solidFill>
          <a:ln/>
        </p:spPr>
      </p:sp>
      <p:pic>
        <p:nvPicPr>
          <p:cNvPr id="21" name="Image 4" descr="preencoded.png"/>
          <p:cNvPicPr>
            <a:picLocks noChangeAspect="1"/>
          </p:cNvPicPr>
          <p:nvPr/>
        </p:nvPicPr>
        <p:blipFill>
          <a:blip r:embed="rId3"/>
          <a:stretch>
            <a:fillRect/>
          </a:stretch>
        </p:blipFill>
        <p:spPr>
          <a:xfrm>
            <a:off x="1225296" y="5568696"/>
            <a:ext cx="292608" cy="292608"/>
          </a:xfrm>
          <a:prstGeom prst="rect">
            <a:avLst/>
          </a:prstGeom>
        </p:spPr>
      </p:pic>
      <p:sp>
        <p:nvSpPr>
          <p:cNvPr id="22" name="Text 15"/>
          <p:cNvSpPr/>
          <p:nvPr/>
        </p:nvSpPr>
        <p:spPr>
          <a:xfrm>
            <a:off x="1874520" y="5029200"/>
            <a:ext cx="3840480" cy="137160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Image classification</a:t>
            </a:r>
            <a:endParaRPr lang="en-US" sz="1550" dirty="0"/>
          </a:p>
        </p:txBody>
      </p:sp>
      <p:sp>
        <p:nvSpPr>
          <p:cNvPr id="23" name="Shape 16"/>
          <p:cNvSpPr/>
          <p:nvPr/>
        </p:nvSpPr>
        <p:spPr>
          <a:xfrm>
            <a:off x="6400800" y="5029200"/>
            <a:ext cx="5120640" cy="1371600"/>
          </a:xfrm>
          <a:prstGeom prst="roundRect">
            <a:avLst>
              <a:gd name="adj" fmla="val 5333"/>
            </a:avLst>
          </a:prstGeom>
          <a:solidFill>
            <a:srgbClr val="52796F">
              <a:alpha val="85000"/>
            </a:srgbClr>
          </a:solidFill>
          <a:ln/>
        </p:spPr>
      </p:sp>
      <p:sp>
        <p:nvSpPr>
          <p:cNvPr id="24" name="Shape 17"/>
          <p:cNvSpPr/>
          <p:nvPr/>
        </p:nvSpPr>
        <p:spPr>
          <a:xfrm>
            <a:off x="6675120" y="5440680"/>
            <a:ext cx="548640" cy="548640"/>
          </a:xfrm>
          <a:prstGeom prst="ellipse">
            <a:avLst/>
          </a:prstGeom>
          <a:solidFill>
            <a:srgbClr val="CBA135"/>
          </a:solidFill>
          <a:ln/>
        </p:spPr>
      </p:sp>
      <p:pic>
        <p:nvPicPr>
          <p:cNvPr id="25" name="Image 5" descr="preencoded.png"/>
          <p:cNvPicPr>
            <a:picLocks noChangeAspect="1"/>
          </p:cNvPicPr>
          <p:nvPr/>
        </p:nvPicPr>
        <p:blipFill>
          <a:blip r:embed="rId3"/>
          <a:stretch>
            <a:fillRect/>
          </a:stretch>
        </p:blipFill>
        <p:spPr>
          <a:xfrm>
            <a:off x="6803136" y="5568696"/>
            <a:ext cx="292608" cy="292608"/>
          </a:xfrm>
          <a:prstGeom prst="rect">
            <a:avLst/>
          </a:prstGeom>
        </p:spPr>
      </p:pic>
      <p:sp>
        <p:nvSpPr>
          <p:cNvPr id="26" name="Text 18"/>
          <p:cNvSpPr/>
          <p:nvPr/>
        </p:nvSpPr>
        <p:spPr>
          <a:xfrm>
            <a:off x="7452360" y="5029200"/>
            <a:ext cx="3840480" cy="137160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Deep learning with TensorFlow/Keras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640080" y="640080"/>
            <a:ext cx="10881360" cy="2377440"/>
          </a:xfrm>
          <a:prstGeom prst="roundRect">
            <a:avLst>
              <a:gd name="adj" fmla="val 3077"/>
            </a:avLst>
          </a:prstGeom>
          <a:solidFill>
            <a:srgbClr val="FFFFFF"/>
          </a:solidFill>
          <a:ln/>
          <a:effectLst>
            <a:outerShdw blurRad="76200" dist="25400" dir="2700000" algn="bl" rotWithShape="0">
              <a:srgbClr val="000000">
                <a:alpha val="10000"/>
              </a:srgbClr>
            </a:outerShdw>
          </a:effectLst>
        </p:spPr>
      </p:sp>
      <p:pic>
        <p:nvPicPr>
          <p:cNvPr id="3" name="Image 0" descr="preencoded.png"/>
          <p:cNvPicPr>
            <a:picLocks noChangeAspect="1"/>
          </p:cNvPicPr>
          <p:nvPr/>
        </p:nvPicPr>
        <p:blipFill>
          <a:blip r:embed="rId3"/>
          <a:stretch>
            <a:fillRect/>
          </a:stretch>
        </p:blipFill>
        <p:spPr>
          <a:xfrm>
            <a:off x="960120" y="960120"/>
            <a:ext cx="502920" cy="502920"/>
          </a:xfrm>
          <a:prstGeom prst="rect">
            <a:avLst/>
          </a:prstGeom>
        </p:spPr>
      </p:pic>
      <p:sp>
        <p:nvSpPr>
          <p:cNvPr id="4" name="Text 1"/>
          <p:cNvSpPr/>
          <p:nvPr/>
        </p:nvSpPr>
        <p:spPr>
          <a:xfrm>
            <a:off x="1600200" y="1005840"/>
            <a:ext cx="5486400" cy="411480"/>
          </a:xfrm>
          <a:prstGeom prst="rect">
            <a:avLst/>
          </a:prstGeom>
          <a:noFill/>
          <a:ln/>
        </p:spPr>
        <p:txBody>
          <a:bodyPr wrap="square" lIns="0" tIns="0" rIns="0" bIns="0" rtlCol="0" anchor="ctr"/>
          <a:lstStyle/>
          <a:p>
            <a:pPr marL="0" indent="0">
              <a:buNone/>
            </a:pPr>
            <a:r>
              <a:rPr lang="en-US" sz="1600" b="1" dirty="0">
                <a:solidFill>
                  <a:srgbClr val="1B4332"/>
                </a:solidFill>
                <a:latin typeface="Calibri" pitchFamily="34" charset="0"/>
                <a:ea typeface="Calibri" pitchFamily="34" charset="-122"/>
                <a:cs typeface="Calibri" pitchFamily="34" charset="-120"/>
              </a:rPr>
              <a:t>Resume Summary</a:t>
            </a:r>
            <a:endParaRPr lang="en-US" sz="1600" dirty="0"/>
          </a:p>
        </p:txBody>
      </p:sp>
      <p:sp>
        <p:nvSpPr>
          <p:cNvPr id="5" name="Text 2"/>
          <p:cNvSpPr/>
          <p:nvPr/>
        </p:nvSpPr>
        <p:spPr>
          <a:xfrm>
            <a:off x="960120" y="1554480"/>
            <a:ext cx="10241280" cy="1371600"/>
          </a:xfrm>
          <a:prstGeom prst="rect">
            <a:avLst/>
          </a:prstGeom>
          <a:noFill/>
          <a:ln/>
        </p:spPr>
        <p:txBody>
          <a:bodyPr wrap="square" lIns="0" tIns="0" rIns="0" bIns="0" rtlCol="0" anchor="t"/>
          <a:lstStyle/>
          <a:p>
            <a:pPr marL="0" indent="0">
              <a:buNone/>
            </a:pPr>
            <a:r>
              <a:rPr lang="en-US" sz="1450" i="1" dirty="0">
                <a:solidFill>
                  <a:srgbClr val="1B2A25"/>
                </a:solidFill>
                <a:latin typeface="Calibri" pitchFamily="34" charset="0"/>
                <a:ea typeface="Calibri" pitchFamily="34" charset="-122"/>
                <a:cs typeface="Calibri" pitchFamily="34" charset="-120"/>
              </a:rPr>
              <a:t>Developed a deep learning-based waste classification system using TensorFlow and CNN to identify recyclable waste categories from images. The model classifies waste into six categories and assists in improving waste segregation for sustainable recycling.</a:t>
            </a:r>
            <a:endParaRPr lang="en-US" sz="1450" dirty="0"/>
          </a:p>
        </p:txBody>
      </p:sp>
      <p:sp>
        <p:nvSpPr>
          <p:cNvPr id="6" name="Shape 3"/>
          <p:cNvSpPr/>
          <p:nvPr/>
        </p:nvSpPr>
        <p:spPr>
          <a:xfrm>
            <a:off x="640080" y="3291840"/>
            <a:ext cx="10881360" cy="2926080"/>
          </a:xfrm>
          <a:prstGeom prst="roundRect">
            <a:avLst>
              <a:gd name="adj" fmla="val 2500"/>
            </a:avLst>
          </a:prstGeom>
          <a:solidFill>
            <a:srgbClr val="1B4332"/>
          </a:solidFill>
          <a:ln/>
        </p:spPr>
      </p:sp>
      <p:pic>
        <p:nvPicPr>
          <p:cNvPr id="7" name="Image 1" descr="preencoded.png"/>
          <p:cNvPicPr>
            <a:picLocks noChangeAspect="1"/>
          </p:cNvPicPr>
          <p:nvPr/>
        </p:nvPicPr>
        <p:blipFill>
          <a:blip r:embed="rId4"/>
          <a:stretch>
            <a:fillRect/>
          </a:stretch>
        </p:blipFill>
        <p:spPr>
          <a:xfrm>
            <a:off x="5394960" y="3611880"/>
            <a:ext cx="731520" cy="731520"/>
          </a:xfrm>
          <a:prstGeom prst="rect">
            <a:avLst/>
          </a:prstGeom>
        </p:spPr>
      </p:pic>
      <p:sp>
        <p:nvSpPr>
          <p:cNvPr id="8" name="Text 4"/>
          <p:cNvSpPr/>
          <p:nvPr/>
        </p:nvSpPr>
        <p:spPr>
          <a:xfrm>
            <a:off x="640080" y="4434840"/>
            <a:ext cx="10881360" cy="64008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Thank You</a:t>
            </a:r>
            <a:endParaRPr lang="en-US" sz="3000" dirty="0"/>
          </a:p>
        </p:txBody>
      </p:sp>
      <p:sp>
        <p:nvSpPr>
          <p:cNvPr id="9" name="Text 5"/>
          <p:cNvSpPr/>
          <p:nvPr/>
        </p:nvSpPr>
        <p:spPr>
          <a:xfrm>
            <a:off x="640080" y="5029200"/>
            <a:ext cx="10881360" cy="365760"/>
          </a:xfrm>
          <a:prstGeom prst="rect">
            <a:avLst/>
          </a:prstGeom>
          <a:noFill/>
          <a:ln/>
        </p:spPr>
        <p:txBody>
          <a:bodyPr wrap="square" lIns="0" tIns="0" rIns="0" bIns="0" rtlCol="0" anchor="ctr"/>
          <a:lstStyle/>
          <a:p>
            <a:pPr marL="0" indent="0" algn="ctr">
              <a:buNone/>
            </a:pPr>
            <a:r>
              <a:rPr lang="en-US" sz="1400" dirty="0">
                <a:solidFill>
                  <a:srgbClr val="84A98C"/>
                </a:solidFill>
                <a:latin typeface="Calibri" pitchFamily="34" charset="0"/>
                <a:ea typeface="Calibri" pitchFamily="34" charset="-122"/>
                <a:cs typeface="Calibri" pitchFamily="34" charset="-120"/>
              </a:rPr>
              <a:t>Full code, dataset details, and setup instructions available on GitHub</a:t>
            </a:r>
            <a:endParaRPr lang="en-US" sz="1400" dirty="0"/>
          </a:p>
        </p:txBody>
      </p:sp>
      <p:sp>
        <p:nvSpPr>
          <p:cNvPr id="10" name="Text 6"/>
          <p:cNvSpPr/>
          <p:nvPr/>
        </p:nvSpPr>
        <p:spPr>
          <a:xfrm>
            <a:off x="640080" y="5486400"/>
            <a:ext cx="10881360" cy="365760"/>
          </a:xfrm>
          <a:prstGeom prst="rect">
            <a:avLst/>
          </a:prstGeom>
          <a:noFill/>
          <a:ln/>
        </p:spPr>
        <p:txBody>
          <a:bodyPr wrap="square" lIns="0" tIns="0" rIns="0" bIns="0" rtlCol="0" anchor="ctr"/>
          <a:lstStyle/>
          <a:p>
            <a:pPr marL="0" indent="0" algn="ctr">
              <a:buNone/>
            </a:pPr>
            <a:r>
              <a:rPr lang="en-US" sz="1300" dirty="0">
                <a:solidFill>
                  <a:srgbClr val="CBA135"/>
                </a:solidFill>
                <a:latin typeface="Courier New" pitchFamily="34" charset="0"/>
                <a:ea typeface="Courier New" pitchFamily="34" charset="-122"/>
                <a:cs typeface="Courier New" pitchFamily="34" charset="-120"/>
              </a:rPr>
              <a:t>Waste-Classification-Using-Deep-Learning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594</Words>
  <Application>Microsoft Office PowerPoint</Application>
  <PresentationFormat>Widescreen</PresentationFormat>
  <Paragraphs>117</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Waste Classification for Recycling Using Deep Learning</dc:title>
  <dc:subject>PptxGenJS Presentation</dc:subject>
  <dc:creator>Alan</dc:creator>
  <cp:lastModifiedBy>ALAN BIJU</cp:lastModifiedBy>
  <cp:revision>2</cp:revision>
  <dcterms:created xsi:type="dcterms:W3CDTF">2026-07-02T17:00:40Z</dcterms:created>
  <dcterms:modified xsi:type="dcterms:W3CDTF">2026-07-02T17:08:07Z</dcterms:modified>
</cp:coreProperties>
</file>